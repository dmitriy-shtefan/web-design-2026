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9"/>
      <p:bold r:id="rId30"/>
      <p:italic r:id="rId31"/>
      <p:boldItalic r:id="rId32"/>
    </p:embeddedFont>
    <p:embeddedFont>
      <p:font typeface="Roboto Black" panose="02000000000000000000" pitchFamily="2" charset="0"/>
      <p:bold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8" roundtripDataSignature="AMtx7mjToSo90tObhiTFn7nCz4iMi9ae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882" y="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2c7558df01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g22c7558df01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2c7558df01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g22c7558df01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2c7558df01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g22c7558df01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2c7558df01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g22c7558df01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2c7558df01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g22c7558df01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2c7558df01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22c7558df01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2c7558df01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g22c7558df01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2c7558df01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g22c7558df01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09f98e6fe9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g209f98e6fe9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2c7558df01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g22c7558df01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2c7558df01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g22c7558df01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2c7558df01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g22c7558df01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2c7558df01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" name="Google Shape;206;g22c7558df01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2c7558df01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g22c7558df01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2c7558df01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g22c7558df01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2c7558df01_0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g22c7558df01_0_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2c7558df01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g22c7558df01_0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2c7558df01_0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g22c7558df01_0_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2c58f8336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g22c58f8336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4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24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7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gif"/><Relationship Id="rId4" Type="http://schemas.openxmlformats.org/officeDocument/2006/relationships/image" Target="../media/image41.gi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"/>
          <p:cNvSpPr txBox="1">
            <a:spLocks noGrp="1"/>
          </p:cNvSpPr>
          <p:nvPr>
            <p:ph type="subTitle" idx="1"/>
          </p:nvPr>
        </p:nvSpPr>
        <p:spPr>
          <a:xfrm>
            <a:off x="1081200" y="2271525"/>
            <a:ext cx="6981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uk" sz="3180" b="1" dirty="0">
                <a:solidFill>
                  <a:srgbClr val="3C78D8"/>
                </a:solidFill>
                <a:latin typeface="Roboto"/>
                <a:ea typeface="Roboto"/>
                <a:cs typeface="Roboto"/>
                <a:sym typeface="Roboto"/>
              </a:rPr>
              <a:t>Вебдизайн – Junior </a:t>
            </a:r>
            <a:br>
              <a:rPr lang="uk" sz="3180" b="1" dirty="0">
                <a:solidFill>
                  <a:srgbClr val="3C78D8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uk" sz="3180" b="1" dirty="0">
                <a:solidFill>
                  <a:srgbClr val="3C78D8"/>
                </a:solidFill>
                <a:latin typeface="Roboto"/>
                <a:ea typeface="Roboto"/>
                <a:cs typeface="Roboto"/>
                <a:sym typeface="Roboto"/>
              </a:rPr>
              <a:t>(HTML &amp; CSS)</a:t>
            </a:r>
            <a:endParaRPr sz="3180" b="1" dirty="0">
              <a:solidFill>
                <a:srgbClr val="3C7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7" name="Google Shape;57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62588" y="436100"/>
            <a:ext cx="1017575" cy="104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"/>
          <p:cNvPicPr preferRelativeResize="0"/>
          <p:nvPr/>
        </p:nvPicPr>
        <p:blipFill rotWithShape="1">
          <a:blip r:embed="rId6">
            <a:alphaModFix/>
          </a:blip>
          <a:srcRect t="24493" b="20847"/>
          <a:stretch/>
        </p:blipFill>
        <p:spPr>
          <a:xfrm>
            <a:off x="3503050" y="3317025"/>
            <a:ext cx="2336676" cy="127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>
              <a:buSzPct val="61111"/>
            </a:pPr>
            <a:r>
              <a:rPr lang="uk-UA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Що</a:t>
            </a:r>
            <a:r>
              <a:rPr lang="ru-RU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uk-UA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використовували </a:t>
            </a:r>
            <a:r>
              <a:rPr lang="ru-RU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веброзробники</a:t>
            </a:r>
            <a:br>
              <a:rPr lang="ru-RU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для </a:t>
            </a:r>
            <a:r>
              <a:rPr lang="uk-UA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структурування інформації на сайті</a:t>
            </a:r>
            <a:r>
              <a:rPr lang="uk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?</a:t>
            </a:r>
            <a:endParaRPr sz="1620" b="1" dirty="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5" name="Google Shape;6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7050" y="1337300"/>
            <a:ext cx="6011601" cy="3503926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g22c7558df01_0_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g22c7558df01_0_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>
              <a:buSzPct val="61111"/>
            </a:pPr>
            <a:r>
              <a:rPr lang="uk-UA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Що використовували веброзробники</a:t>
            </a:r>
            <a:br>
              <a:rPr lang="uk-UA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uk-UA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для структурування інформації на сайті?</a:t>
            </a:r>
          </a:p>
        </p:txBody>
      </p:sp>
      <p:pic>
        <p:nvPicPr>
          <p:cNvPr id="72" name="Google Shape;72;g22c7558df01_0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8050" y="1144975"/>
            <a:ext cx="6015500" cy="3642249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g22c7558df01_0_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g22c7558df01_0_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1111"/>
              <a:buNone/>
            </a:pPr>
            <a:r>
              <a:rPr lang="uk-UA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Що використовували веброзробники</a:t>
            </a:r>
            <a:br>
              <a:rPr lang="uk-UA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uk-UA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для структурування інформації на сайті?</a:t>
            </a:r>
          </a:p>
        </p:txBody>
      </p:sp>
      <p:pic>
        <p:nvPicPr>
          <p:cNvPr id="79" name="Google Shape;79;g22c7558df01_0_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400" y="1205300"/>
            <a:ext cx="8292800" cy="3722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g22c7558df01_0_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g22c7558df01_0_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1111"/>
              <a:buFont typeface="Arial"/>
              <a:buNone/>
            </a:pPr>
            <a:r>
              <a:rPr lang="uk-UA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Що використано в наступних прикладах </a:t>
            </a:r>
            <a:br>
              <a:rPr lang="uk-UA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uk-UA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для поліпшення візуального сприйняття сторінки</a:t>
            </a:r>
            <a:r>
              <a:rPr lang="uk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?</a:t>
            </a:r>
            <a:endParaRPr sz="1620" b="1" dirty="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6" name="Google Shape;86;g22c7558df01_0_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325" y="1194199"/>
            <a:ext cx="8343352" cy="363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g22c7558df01_0_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22c7558df01_0_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1111"/>
              <a:buNone/>
            </a:pPr>
            <a:r>
              <a:rPr lang="uk-UA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Що використано в наступних прикладах </a:t>
            </a:r>
            <a:br>
              <a:rPr lang="uk-UA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uk-UA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для поліпшення візуального сприйняття сторінки?</a:t>
            </a:r>
          </a:p>
        </p:txBody>
      </p:sp>
      <p:pic>
        <p:nvPicPr>
          <p:cNvPr id="93" name="Google Shape;93;g22c7558df01_0_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150" y="1346299"/>
            <a:ext cx="8155679" cy="353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5"/>
          <p:cNvSpPr txBox="1">
            <a:spLocks noGrp="1"/>
          </p:cNvSpPr>
          <p:nvPr>
            <p:ph type="ctrTitle"/>
          </p:nvPr>
        </p:nvSpPr>
        <p:spPr>
          <a:xfrm>
            <a:off x="311700" y="2422650"/>
            <a:ext cx="8520600" cy="10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92592"/>
              <a:buNone/>
            </a:pPr>
            <a:r>
              <a:rPr lang="uk" sz="3000" dirty="0">
                <a:solidFill>
                  <a:srgbClr val="3C78D8"/>
                </a:solidFill>
                <a:highlight>
                  <a:srgbClr val="FFFFFF"/>
                </a:highlight>
                <a:latin typeface="Roboto Black"/>
                <a:ea typeface="Roboto Black"/>
                <a:cs typeface="Roboto Black"/>
                <a:sym typeface="Roboto Black"/>
              </a:rPr>
              <a:t>Урок 3.</a:t>
            </a:r>
            <a:br>
              <a:rPr lang="uk" sz="3000" dirty="0">
                <a:solidFill>
                  <a:srgbClr val="3C78D8"/>
                </a:solidFill>
                <a:highlight>
                  <a:srgbClr val="FFFFFF"/>
                </a:highlight>
                <a:latin typeface="Roboto Black"/>
                <a:ea typeface="Roboto Black"/>
                <a:cs typeface="Roboto Black"/>
                <a:sym typeface="Roboto Black"/>
              </a:rPr>
            </a:br>
            <a:r>
              <a:rPr lang="uk" sz="3000" dirty="0">
                <a:solidFill>
                  <a:srgbClr val="3C78D8"/>
                </a:solidFill>
                <a:highlight>
                  <a:srgbClr val="FFFFFF"/>
                </a:highlight>
                <a:latin typeface="Roboto Black"/>
                <a:ea typeface="Roboto Black"/>
                <a:cs typeface="Roboto Black"/>
                <a:sym typeface="Roboto Black"/>
              </a:rPr>
              <a:t>Списки. Зображення</a:t>
            </a:r>
            <a:endParaRPr dirty="0"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01" name="Google Shape;101;p5"/>
          <p:cNvSpPr txBox="1">
            <a:spLocks noGrp="1"/>
          </p:cNvSpPr>
          <p:nvPr>
            <p:ph type="subTitle" idx="1"/>
          </p:nvPr>
        </p:nvSpPr>
        <p:spPr>
          <a:xfrm>
            <a:off x="1081200" y="1532300"/>
            <a:ext cx="6981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uk" sz="1979" b="1" dirty="0">
                <a:solidFill>
                  <a:srgbClr val="3C78D8"/>
                </a:solidFill>
                <a:latin typeface="Roboto"/>
                <a:ea typeface="Roboto"/>
                <a:cs typeface="Roboto"/>
                <a:sym typeface="Roboto"/>
              </a:rPr>
              <a:t>Вебдизайн – Junior </a:t>
            </a:r>
            <a:br>
              <a:rPr lang="uk" sz="1979" b="1" dirty="0">
                <a:solidFill>
                  <a:srgbClr val="3C78D8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uk" sz="1979" b="1" dirty="0">
                <a:solidFill>
                  <a:srgbClr val="3C78D8"/>
                </a:solidFill>
                <a:latin typeface="Roboto"/>
                <a:ea typeface="Roboto"/>
                <a:cs typeface="Roboto"/>
                <a:sym typeface="Roboto"/>
              </a:rPr>
              <a:t>(HTML &amp; CSS)</a:t>
            </a:r>
            <a:endParaRPr sz="1979" b="1" dirty="0">
              <a:solidFill>
                <a:srgbClr val="3C7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2" name="Google Shape;102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36399" y="423675"/>
            <a:ext cx="671200" cy="69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5"/>
          <p:cNvPicPr preferRelativeResize="0"/>
          <p:nvPr/>
        </p:nvPicPr>
        <p:blipFill rotWithShape="1">
          <a:blip r:embed="rId6">
            <a:alphaModFix/>
          </a:blip>
          <a:srcRect t="24493" b="20847"/>
          <a:stretch/>
        </p:blipFill>
        <p:spPr>
          <a:xfrm>
            <a:off x="3403650" y="3545800"/>
            <a:ext cx="2336676" cy="127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6"/>
          <p:cNvSpPr txBox="1">
            <a:spLocks noGrp="1"/>
          </p:cNvSpPr>
          <p:nvPr>
            <p:ph type="body" idx="1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➔"/>
            </a:pPr>
            <a:r>
              <a:rPr lang="uk-UA" sz="1400" dirty="0">
                <a:solidFill>
                  <a:schemeClr val="dk1"/>
                </a:solidFill>
              </a:rPr>
              <a:t>познайомитися з поняттям "список", а також його видами;</a:t>
            </a: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➔"/>
            </a:pPr>
            <a:r>
              <a:rPr lang="uk-UA" sz="1400" dirty="0">
                <a:solidFill>
                  <a:schemeClr val="dk1"/>
                </a:solidFill>
              </a:rPr>
              <a:t>навчитися створювати марковані та нумеровані списки;</a:t>
            </a: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➔"/>
            </a:pPr>
            <a:r>
              <a:rPr lang="uk-UA" sz="1400" dirty="0">
                <a:solidFill>
                  <a:schemeClr val="dk1"/>
                </a:solidFill>
              </a:rPr>
              <a:t>навчитися створювати навігаційне меню на основі маркованих списків;</a:t>
            </a: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➔"/>
            </a:pPr>
            <a:r>
              <a:rPr lang="uk-UA" sz="1400" dirty="0">
                <a:solidFill>
                  <a:schemeClr val="dk1"/>
                </a:solidFill>
              </a:rPr>
              <a:t>вивчити основи роботи із зображеннями:</a:t>
            </a: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➔"/>
            </a:pPr>
            <a:r>
              <a:rPr lang="uk-UA" sz="1400" dirty="0">
                <a:solidFill>
                  <a:schemeClr val="dk1"/>
                </a:solidFill>
              </a:rPr>
              <a:t>задавати стилі, налаштовувати відступи, поля, оформляти їх особливим чином.</a:t>
            </a:r>
          </a:p>
        </p:txBody>
      </p:sp>
      <p:sp>
        <p:nvSpPr>
          <p:cNvPr id="110" name="Google Shape;110;p6"/>
          <p:cNvSpPr txBox="1">
            <a:spLocks noGrp="1"/>
          </p:cNvSpPr>
          <p:nvPr>
            <p:ph type="title"/>
          </p:nvPr>
        </p:nvSpPr>
        <p:spPr>
          <a:xfrm>
            <a:off x="4572000" y="445025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-UA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Наші завдання на заняття:</a:t>
            </a:r>
          </a:p>
        </p:txBody>
      </p:sp>
      <p:pic>
        <p:nvPicPr>
          <p:cNvPr id="111" name="Google Shape;111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2750" y="885800"/>
            <a:ext cx="4210764" cy="337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Приклади списків</a:t>
            </a:r>
            <a:endParaRPr sz="1620" b="1" dirty="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8" name="Google Shape;118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475" y="1017725"/>
            <a:ext cx="3286125" cy="328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98050" y="1017725"/>
            <a:ext cx="4381500" cy="328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4"/>
          <p:cNvSpPr txBox="1">
            <a:spLocks noGrp="1"/>
          </p:cNvSpPr>
          <p:nvPr>
            <p:ph type="body" idx="1"/>
          </p:nvPr>
        </p:nvSpPr>
        <p:spPr>
          <a:xfrm>
            <a:off x="4747775" y="1951250"/>
            <a:ext cx="4260300" cy="2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uk" sz="150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Список</a:t>
            </a:r>
            <a:r>
              <a:rPr lang="uk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– </a:t>
            </a:r>
            <a:r>
              <a:rPr lang="uk-UA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 письмове перерахування будь-яких об'єктів</a:t>
            </a:r>
            <a:r>
              <a:rPr lang="uk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5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14"/>
          <p:cNvSpPr txBox="1">
            <a:spLocks noGrp="1"/>
          </p:cNvSpPr>
          <p:nvPr>
            <p:ph type="title"/>
          </p:nvPr>
        </p:nvSpPr>
        <p:spPr>
          <a:xfrm>
            <a:off x="180400" y="259800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Що таке список?</a:t>
            </a:r>
            <a:endParaRPr sz="1620" b="1" dirty="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7" name="Google Shape;12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0400" y="1193625"/>
            <a:ext cx="4132352" cy="27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g22c7558df01_0_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22c7558df01_0_34"/>
          <p:cNvSpPr txBox="1">
            <a:spLocks noGrp="1"/>
          </p:cNvSpPr>
          <p:nvPr>
            <p:ph type="body" idx="1"/>
          </p:nvPr>
        </p:nvSpPr>
        <p:spPr>
          <a:xfrm>
            <a:off x="1044975" y="4624200"/>
            <a:ext cx="2180100" cy="5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</a:pPr>
            <a:r>
              <a:rPr lang="uk" sz="155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Маркований</a:t>
            </a:r>
            <a:endParaRPr sz="141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g22c7558df01_0_34"/>
          <p:cNvSpPr txBox="1">
            <a:spLocks noGrp="1"/>
          </p:cNvSpPr>
          <p:nvPr>
            <p:ph type="title"/>
          </p:nvPr>
        </p:nvSpPr>
        <p:spPr>
          <a:xfrm>
            <a:off x="180400" y="259800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Види списків</a:t>
            </a:r>
            <a:endParaRPr sz="1620" b="1" dirty="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5" name="Google Shape;135;g22c7558df01_0_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5875" y="1583850"/>
            <a:ext cx="2498275" cy="151304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22c7558df01_0_34"/>
          <p:cNvSpPr txBox="1">
            <a:spLocks noGrp="1"/>
          </p:cNvSpPr>
          <p:nvPr>
            <p:ph type="body" idx="1"/>
          </p:nvPr>
        </p:nvSpPr>
        <p:spPr>
          <a:xfrm>
            <a:off x="5810100" y="4624200"/>
            <a:ext cx="2180100" cy="5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</a:pPr>
            <a:r>
              <a:rPr lang="uk" sz="155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Нумерований</a:t>
            </a:r>
            <a:endParaRPr sz="155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260"/>
              <a:buNone/>
            </a:pPr>
            <a:endParaRPr sz="141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7" name="Google Shape;137;g22c7558df01_0_34"/>
          <p:cNvPicPr preferRelativeResize="0"/>
          <p:nvPr/>
        </p:nvPicPr>
        <p:blipFill rotWithShape="1">
          <a:blip r:embed="rId5">
            <a:alphaModFix/>
          </a:blip>
          <a:srcRect r="19087"/>
          <a:stretch/>
        </p:blipFill>
        <p:spPr>
          <a:xfrm>
            <a:off x="4883700" y="1236650"/>
            <a:ext cx="3446999" cy="220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g22c7558df01_0_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g22c7558df01_0_45"/>
          <p:cNvSpPr txBox="1">
            <a:spLocks noGrp="1"/>
          </p:cNvSpPr>
          <p:nvPr>
            <p:ph type="title"/>
          </p:nvPr>
        </p:nvSpPr>
        <p:spPr>
          <a:xfrm>
            <a:off x="180400" y="259800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Створимо маркований список</a:t>
            </a:r>
            <a:endParaRPr sz="1620" b="1" dirty="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4" name="Google Shape;144;g22c7558df01_0_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750" y="832499"/>
            <a:ext cx="2436325" cy="101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22c7558df01_0_45"/>
          <p:cNvSpPr txBox="1">
            <a:spLocks noGrp="1"/>
          </p:cNvSpPr>
          <p:nvPr>
            <p:ph type="body" idx="1"/>
          </p:nvPr>
        </p:nvSpPr>
        <p:spPr>
          <a:xfrm>
            <a:off x="4758825" y="832500"/>
            <a:ext cx="42603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300" dirty="0">
                <a:solidFill>
                  <a:schemeClr val="dk1"/>
                </a:solidFill>
              </a:rPr>
              <a:t>Щоб створити маркований список, використовуємо </a:t>
            </a:r>
            <a:r>
              <a:rPr lang="ru-RU" sz="1300" dirty="0">
                <a:solidFill>
                  <a:schemeClr val="dk1"/>
                </a:solidFill>
              </a:rPr>
              <a:t>тег </a:t>
            </a:r>
            <a:r>
              <a:rPr lang="ru-RU" sz="1300" b="1" dirty="0">
                <a:solidFill>
                  <a:schemeClr val="accent1"/>
                </a:solidFill>
              </a:rPr>
              <a:t>&lt;</a:t>
            </a:r>
            <a:r>
              <a:rPr lang="ru-RU" sz="1300" b="1" dirty="0" err="1">
                <a:solidFill>
                  <a:schemeClr val="accent1"/>
                </a:solidFill>
              </a:rPr>
              <a:t>ul</a:t>
            </a:r>
            <a:r>
              <a:rPr lang="ru-RU" sz="1300" b="1" dirty="0">
                <a:solidFill>
                  <a:schemeClr val="accent1"/>
                </a:solidFill>
              </a:rPr>
              <a:t>&gt;</a:t>
            </a:r>
            <a:r>
              <a:rPr lang="ru-RU" sz="1300" dirty="0">
                <a:solidFill>
                  <a:schemeClr val="dk1"/>
                </a:solidFill>
              </a:rPr>
              <a:t>. </a:t>
            </a:r>
            <a:r>
              <a:rPr lang="uk-UA" sz="1300" dirty="0">
                <a:solidFill>
                  <a:schemeClr val="dk1"/>
                </a:solidFill>
              </a:rPr>
              <a:t>Кожен елемент списку створюється за допомогою чергового тегу </a:t>
            </a:r>
            <a:r>
              <a:rPr lang="ru-RU" sz="1300" b="1" dirty="0">
                <a:solidFill>
                  <a:schemeClr val="accent1"/>
                </a:solidFill>
              </a:rPr>
              <a:t>&lt;</a:t>
            </a:r>
            <a:r>
              <a:rPr lang="ru-RU" sz="1300" b="1" dirty="0" err="1">
                <a:solidFill>
                  <a:schemeClr val="accent1"/>
                </a:solidFill>
              </a:rPr>
              <a:t>li</a:t>
            </a:r>
            <a:r>
              <a:rPr lang="ru-RU" sz="1300" b="1" dirty="0">
                <a:solidFill>
                  <a:schemeClr val="accent1"/>
                </a:solidFill>
              </a:rPr>
              <a:t>&gt;</a:t>
            </a:r>
            <a:r>
              <a:rPr lang="ru-RU" sz="1300" dirty="0">
                <a:solidFill>
                  <a:schemeClr val="dk1"/>
                </a:solidFill>
              </a:rPr>
              <a:t>. </a:t>
            </a:r>
            <a:r>
              <a:rPr lang="uk-UA" sz="1300" dirty="0">
                <a:solidFill>
                  <a:schemeClr val="dk1"/>
                </a:solidFill>
              </a:rPr>
              <a:t>Кожен новий тег – це елемент списку.</a:t>
            </a: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uk-UA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За аналогією з іншими тегами, для списку можна задати стилі, тим самим надавши йому привабливішого вигляду. </a:t>
            </a: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uk-UA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Наприклад, можна задати колір фону або ж встановити маркер для </a:t>
            </a:r>
            <a:r>
              <a:rPr lang="ru-RU" sz="130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&lt;</a:t>
            </a:r>
            <a:r>
              <a:rPr lang="ru-RU" sz="1300" b="1" dirty="0" err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ul</a:t>
            </a:r>
            <a:r>
              <a:rPr lang="ru-RU" sz="130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&gt;</a:t>
            </a: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uk" sz="130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Маркер</a:t>
            </a:r>
            <a:r>
              <a:rPr lang="uk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— </a:t>
            </a:r>
            <a:r>
              <a:rPr lang="uk-UA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 позначення кожного нового елемента списку. </a:t>
            </a: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uk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Його можна або взагалі прибрати </a:t>
            </a:r>
            <a:r>
              <a:rPr lang="uk" sz="130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list-style:none, </a:t>
            </a:r>
            <a:r>
              <a:rPr lang="uk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або вибрати один із варіантів: </a:t>
            </a:r>
            <a:r>
              <a:rPr lang="uk" sz="130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circle, disc, square</a:t>
            </a:r>
            <a:r>
              <a:rPr lang="uk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6" name="Google Shape;146;g22c7558df01_0_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7750" y="2038000"/>
            <a:ext cx="2436324" cy="1900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g22c7558df01_0_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7749" y="4129250"/>
            <a:ext cx="3779400" cy="7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2c7558df01_0_74"/>
          <p:cNvSpPr txBox="1">
            <a:spLocks noGrp="1"/>
          </p:cNvSpPr>
          <p:nvPr>
            <p:ph type="body" idx="1"/>
          </p:nvPr>
        </p:nvSpPr>
        <p:spPr>
          <a:xfrm>
            <a:off x="1267500" y="311675"/>
            <a:ext cx="6609000" cy="12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uk" sz="2083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Стилі маркованих списків (list-style):</a:t>
            </a:r>
            <a:endParaRPr sz="21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3" name="Google Shape;153;g22c7558df01_0_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250" y="1110025"/>
            <a:ext cx="3924963" cy="15643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g22c7558df01_0_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3103" y="1115216"/>
            <a:ext cx="3513848" cy="1456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g22c7558df01_0_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0734" y="3173964"/>
            <a:ext cx="3506920" cy="141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g22c7558df01_0_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41643" y="3138314"/>
            <a:ext cx="3234848" cy="1456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g22c7558df01_0_1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22c7558df01_0_110"/>
          <p:cNvSpPr txBox="1">
            <a:spLocks noGrp="1"/>
          </p:cNvSpPr>
          <p:nvPr>
            <p:ph type="title"/>
          </p:nvPr>
        </p:nvSpPr>
        <p:spPr>
          <a:xfrm>
            <a:off x="180400" y="259800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-UA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Створимо нумерований список</a:t>
            </a:r>
          </a:p>
        </p:txBody>
      </p:sp>
      <p:sp>
        <p:nvSpPr>
          <p:cNvPr id="163" name="Google Shape;163;g22c7558df01_0_110"/>
          <p:cNvSpPr txBox="1">
            <a:spLocks noGrp="1"/>
          </p:cNvSpPr>
          <p:nvPr>
            <p:ph type="body" idx="1"/>
          </p:nvPr>
        </p:nvSpPr>
        <p:spPr>
          <a:xfrm>
            <a:off x="4758825" y="832500"/>
            <a:ext cx="42603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uk-UA" sz="1300" dirty="0">
                <a:solidFill>
                  <a:schemeClr val="dk1"/>
                </a:solidFill>
              </a:rPr>
              <a:t>За аналогією з маркованими можна створювати нумеровані списки. Щоб задати такий список, потрібен тег </a:t>
            </a:r>
            <a:r>
              <a:rPr lang="ru-RU" sz="1300" b="1" dirty="0">
                <a:solidFill>
                  <a:schemeClr val="accent1"/>
                </a:solidFill>
              </a:rPr>
              <a:t>&lt;</a:t>
            </a:r>
            <a:r>
              <a:rPr lang="ru-RU" sz="1300" b="1" dirty="0" err="1">
                <a:solidFill>
                  <a:schemeClr val="accent1"/>
                </a:solidFill>
              </a:rPr>
              <a:t>ol</a:t>
            </a:r>
            <a:r>
              <a:rPr lang="ru-RU" sz="1300" b="1" dirty="0">
                <a:solidFill>
                  <a:schemeClr val="accent1"/>
                </a:solidFill>
              </a:rPr>
              <a:t>&gt;</a:t>
            </a:r>
            <a:r>
              <a:rPr lang="ru-RU" sz="1300" dirty="0">
                <a:solidFill>
                  <a:schemeClr val="dk1"/>
                </a:solidFill>
              </a:rPr>
              <a:t>, </a:t>
            </a:r>
            <a:r>
              <a:rPr lang="uk-UA" sz="1300" dirty="0">
                <a:solidFill>
                  <a:schemeClr val="dk1"/>
                </a:solidFill>
              </a:rPr>
              <a:t>а кожен новий елемент списку слід виділяти за допомогою  </a:t>
            </a:r>
            <a:r>
              <a:rPr lang="ru-RU" sz="1300" b="1" dirty="0">
                <a:solidFill>
                  <a:schemeClr val="accent1"/>
                </a:solidFill>
              </a:rPr>
              <a:t>&lt;</a:t>
            </a:r>
            <a:r>
              <a:rPr lang="ru-RU" sz="1300" b="1" dirty="0" err="1">
                <a:solidFill>
                  <a:schemeClr val="accent1"/>
                </a:solidFill>
              </a:rPr>
              <a:t>li</a:t>
            </a:r>
            <a:r>
              <a:rPr lang="ru-RU" sz="1300" b="1" dirty="0">
                <a:solidFill>
                  <a:schemeClr val="accent1"/>
                </a:solidFill>
              </a:rPr>
              <a:t>&gt;</a:t>
            </a:r>
            <a:r>
              <a:rPr lang="ru-RU" sz="1300" dirty="0">
                <a:solidFill>
                  <a:schemeClr val="dk1"/>
                </a:solidFill>
              </a:rPr>
              <a:t>.</a:t>
            </a: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uk-UA" sz="1300" dirty="0">
                <a:solidFill>
                  <a:schemeClr val="dk1"/>
                </a:solidFill>
              </a:rPr>
              <a:t>Є низка можливих стилів, які можна задати для позначення нумерації. Це може бути арабська чи римська нумерація, також є можливість задати літери латинського алфавіту у верхньому або нижньому регістрі.</a:t>
            </a: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uk-UA" sz="1300" dirty="0">
                <a:solidFill>
                  <a:schemeClr val="dk1"/>
                </a:solidFill>
              </a:rPr>
              <a:t>За замовчуванням стиль нумерації </a:t>
            </a:r>
            <a:r>
              <a:rPr lang="ru-RU" sz="1300" dirty="0">
                <a:solidFill>
                  <a:schemeClr val="dk1"/>
                </a:solidFill>
              </a:rPr>
              <a:t>– </a:t>
            </a:r>
            <a:r>
              <a:rPr lang="en-US" sz="1300" dirty="0">
                <a:solidFill>
                  <a:schemeClr val="dk1"/>
                </a:solidFill>
              </a:rPr>
              <a:t>decimal (</a:t>
            </a:r>
            <a:r>
              <a:rPr lang="uk-UA" sz="1300" dirty="0">
                <a:solidFill>
                  <a:schemeClr val="dk1"/>
                </a:solidFill>
              </a:rPr>
              <a:t>арабські цифри</a:t>
            </a:r>
            <a:r>
              <a:rPr lang="ru-RU" sz="1300" dirty="0">
                <a:solidFill>
                  <a:schemeClr val="dk1"/>
                </a:solidFill>
              </a:rPr>
              <a:t>). </a:t>
            </a: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00" dirty="0">
              <a:solidFill>
                <a:schemeClr val="dk1"/>
              </a:solidFill>
            </a:endParaRPr>
          </a:p>
        </p:txBody>
      </p:sp>
      <p:pic>
        <p:nvPicPr>
          <p:cNvPr id="164" name="Google Shape;164;g22c7558df01_0_1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750" y="756300"/>
            <a:ext cx="1953700" cy="1144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g22c7558df01_0_1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7744" y="2014682"/>
            <a:ext cx="1953700" cy="2040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g22c7558df01_0_1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7750" y="4169150"/>
            <a:ext cx="3790716" cy="76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09f98e6fe9_0_56"/>
          <p:cNvSpPr txBox="1">
            <a:spLocks noGrp="1"/>
          </p:cNvSpPr>
          <p:nvPr>
            <p:ph type="body" idx="1"/>
          </p:nvPr>
        </p:nvSpPr>
        <p:spPr>
          <a:xfrm>
            <a:off x="1267500" y="311675"/>
            <a:ext cx="6609000" cy="12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uk" sz="2083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Стилі нумерованих списків (list-style):</a:t>
            </a:r>
            <a:endParaRPr sz="21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2" name="Google Shape;172;g209f98e6fe9_0_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600" y="1025174"/>
            <a:ext cx="3508910" cy="1059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209f98e6fe9_0_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2181" y="1025179"/>
            <a:ext cx="3770069" cy="1092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g209f98e6fe9_0_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4600" y="2282654"/>
            <a:ext cx="3783462" cy="1097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g209f98e6fe9_0_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96123" y="2293642"/>
            <a:ext cx="3381678" cy="1075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209f98e6fe9_0_5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27103" y="3506370"/>
            <a:ext cx="2804883" cy="1075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g209f98e6fe9_0_5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16684" y="3460668"/>
            <a:ext cx="2898824" cy="11673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g22c7558df01_0_1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22c7558df01_0_134"/>
          <p:cNvSpPr txBox="1">
            <a:spLocks noGrp="1"/>
          </p:cNvSpPr>
          <p:nvPr>
            <p:ph type="title"/>
          </p:nvPr>
        </p:nvSpPr>
        <p:spPr>
          <a:xfrm>
            <a:off x="180400" y="259800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Меню навігації</a:t>
            </a:r>
            <a:endParaRPr sz="1620" b="1" dirty="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4" name="Google Shape;184;g22c7558df01_0_1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7350" y="699774"/>
            <a:ext cx="4861801" cy="4232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g22c7558df01_0_1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g22c7558df01_0_142"/>
          <p:cNvSpPr txBox="1">
            <a:spLocks noGrp="1"/>
          </p:cNvSpPr>
          <p:nvPr>
            <p:ph type="title"/>
          </p:nvPr>
        </p:nvSpPr>
        <p:spPr>
          <a:xfrm>
            <a:off x="180400" y="259800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Меню навігації</a:t>
            </a:r>
            <a:endParaRPr sz="1620" b="1" dirty="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1" name="Google Shape;191;g22c7558df01_0_1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3125" y="699775"/>
            <a:ext cx="5608075" cy="4206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g22c7558df01_0_1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g22c7558df01_0_149"/>
          <p:cNvSpPr txBox="1">
            <a:spLocks noGrp="1"/>
          </p:cNvSpPr>
          <p:nvPr>
            <p:ph type="title"/>
          </p:nvPr>
        </p:nvSpPr>
        <p:spPr>
          <a:xfrm>
            <a:off x="180400" y="259800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Створюємо меню навігації</a:t>
            </a:r>
            <a:endParaRPr sz="1620" b="1" dirty="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8" name="Google Shape;198;g22c7558df01_0_1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9425" y="883645"/>
            <a:ext cx="3232426" cy="118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g22c7558df01_0_1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9425" y="2372645"/>
            <a:ext cx="1515547" cy="9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g22c7558df01_0_1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9425" y="3603525"/>
            <a:ext cx="1794425" cy="973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g22c7558df01_0_149"/>
          <p:cNvSpPr txBox="1">
            <a:spLocks noGrp="1"/>
          </p:cNvSpPr>
          <p:nvPr>
            <p:ph type="body" idx="1"/>
          </p:nvPr>
        </p:nvSpPr>
        <p:spPr>
          <a:xfrm>
            <a:off x="4769875" y="857075"/>
            <a:ext cx="4260300" cy="6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uk" sz="1300" dirty="0">
                <a:solidFill>
                  <a:schemeClr val="dk1"/>
                </a:solidFill>
              </a:rPr>
              <a:t>Створюємо маркований список.</a:t>
            </a:r>
            <a:endParaRPr sz="1300" dirty="0">
              <a:solidFill>
                <a:schemeClr val="dk1"/>
              </a:solidFill>
            </a:endParaRPr>
          </a:p>
        </p:txBody>
      </p:sp>
      <p:sp>
        <p:nvSpPr>
          <p:cNvPr id="202" name="Google Shape;202;g22c7558df01_0_149"/>
          <p:cNvSpPr txBox="1">
            <a:spLocks noGrp="1"/>
          </p:cNvSpPr>
          <p:nvPr>
            <p:ph type="body" idx="1"/>
          </p:nvPr>
        </p:nvSpPr>
        <p:spPr>
          <a:xfrm>
            <a:off x="4769875" y="2362825"/>
            <a:ext cx="4260300" cy="6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uk-UA" sz="1300" dirty="0">
                <a:solidFill>
                  <a:schemeClr val="dk1"/>
                </a:solidFill>
              </a:rPr>
              <a:t>Задамо відступи і поля для елементів.</a:t>
            </a:r>
          </a:p>
        </p:txBody>
      </p:sp>
      <p:sp>
        <p:nvSpPr>
          <p:cNvPr id="203" name="Google Shape;203;g22c7558df01_0_149"/>
          <p:cNvSpPr txBox="1">
            <a:spLocks noGrp="1"/>
          </p:cNvSpPr>
          <p:nvPr>
            <p:ph type="body" idx="1"/>
          </p:nvPr>
        </p:nvSpPr>
        <p:spPr>
          <a:xfrm>
            <a:off x="4769875" y="3529981"/>
            <a:ext cx="4260300" cy="1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-UA" sz="1300" dirty="0">
                <a:solidFill>
                  <a:schemeClr val="dk1"/>
                </a:solidFill>
              </a:rPr>
              <a:t>Встановимо властивість, щоб не відображалися маркери. Також </a:t>
            </a:r>
            <a:r>
              <a:rPr lang="uk-UA" sz="1300" dirty="0" err="1">
                <a:solidFill>
                  <a:schemeClr val="dk1"/>
                </a:solidFill>
              </a:rPr>
              <a:t>задамо</a:t>
            </a:r>
            <a:r>
              <a:rPr lang="uk-UA" sz="1300" dirty="0">
                <a:solidFill>
                  <a:schemeClr val="dk1"/>
                </a:solidFill>
              </a:rPr>
              <a:t> ширину 100%, щоб меню займало всю ширину екрана. У результаті меню виглядатиме як звичайний список, тільки у вигляді посилань.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g22c7558df01_0_1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g22c7558df01_0_163"/>
          <p:cNvSpPr txBox="1">
            <a:spLocks noGrp="1"/>
          </p:cNvSpPr>
          <p:nvPr>
            <p:ph type="title"/>
          </p:nvPr>
        </p:nvSpPr>
        <p:spPr>
          <a:xfrm>
            <a:off x="180400" y="259800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Створюємо меню навігації</a:t>
            </a:r>
            <a:endParaRPr sz="1620" b="1" dirty="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" name="Google Shape;210;g22c7558df01_0_163"/>
          <p:cNvSpPr txBox="1">
            <a:spLocks noGrp="1"/>
          </p:cNvSpPr>
          <p:nvPr>
            <p:ph type="body" idx="1"/>
          </p:nvPr>
        </p:nvSpPr>
        <p:spPr>
          <a:xfrm>
            <a:off x="4670075" y="742225"/>
            <a:ext cx="4360200" cy="12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-UA" sz="1300" dirty="0">
                <a:solidFill>
                  <a:schemeClr val="dk1"/>
                </a:solidFill>
              </a:rPr>
              <a:t>Оскільки меню ви робите горизонтальне, посилання варто розмістити в ряд. У цьому допоможе властивість </a:t>
            </a:r>
            <a:r>
              <a:rPr lang="en-US" sz="1300" b="1" dirty="0">
                <a:solidFill>
                  <a:schemeClr val="accent1"/>
                </a:solidFill>
              </a:rPr>
              <a:t>float</a:t>
            </a:r>
            <a:r>
              <a:rPr lang="uk-UA" sz="1300" b="1" dirty="0">
                <a:solidFill>
                  <a:schemeClr val="accent1"/>
                </a:solidFill>
              </a:rPr>
              <a:t>: </a:t>
            </a:r>
            <a:r>
              <a:rPr lang="en-US" sz="1300" b="1" dirty="0">
                <a:solidFill>
                  <a:schemeClr val="accent1"/>
                </a:solidFill>
              </a:rPr>
              <a:t>left</a:t>
            </a:r>
            <a:r>
              <a:rPr lang="uk-UA" sz="1300" dirty="0">
                <a:solidFill>
                  <a:schemeClr val="dk1"/>
                </a:solidFill>
              </a:rPr>
              <a:t> — елементи будуть розташовані по лівому краю. Ширина буде задана автоматично.</a:t>
            </a:r>
          </a:p>
        </p:txBody>
      </p:sp>
      <p:sp>
        <p:nvSpPr>
          <p:cNvPr id="211" name="Google Shape;211;g22c7558df01_0_163"/>
          <p:cNvSpPr txBox="1">
            <a:spLocks noGrp="1"/>
          </p:cNvSpPr>
          <p:nvPr>
            <p:ph type="body" idx="1"/>
          </p:nvPr>
        </p:nvSpPr>
        <p:spPr>
          <a:xfrm>
            <a:off x="4670075" y="2141675"/>
            <a:ext cx="4404600" cy="29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1300" dirty="0">
                <a:solidFill>
                  <a:schemeClr val="dk1"/>
                </a:solidFill>
              </a:rPr>
              <a:t>Нехай меню буде блакитного кольору — </a:t>
            </a:r>
            <a:r>
              <a:rPr lang="uk" sz="1300" b="1" dirty="0">
                <a:solidFill>
                  <a:schemeClr val="accent1"/>
                </a:solidFill>
              </a:rPr>
              <a:t>background: #30A6E6</a:t>
            </a:r>
            <a:r>
              <a:rPr lang="uk" sz="1300" dirty="0">
                <a:solidFill>
                  <a:schemeClr val="dk1"/>
                </a:solidFill>
              </a:rPr>
              <a:t>, колір тексту зробимо білим — </a:t>
            </a:r>
            <a:r>
              <a:rPr lang="uk" sz="1300" b="1" dirty="0">
                <a:solidFill>
                  <a:schemeClr val="accent1"/>
                </a:solidFill>
              </a:rPr>
              <a:t>color: #FFFFFF</a:t>
            </a:r>
            <a:r>
              <a:rPr lang="uk" sz="1300" dirty="0">
                <a:solidFill>
                  <a:schemeClr val="accent1"/>
                </a:solidFill>
              </a:rPr>
              <a:t>.</a:t>
            </a:r>
            <a:endParaRPr sz="1300" dirty="0">
              <a:solidFill>
                <a:schemeClr val="accent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300" dirty="0">
                <a:solidFill>
                  <a:schemeClr val="dk1"/>
                </a:solidFill>
              </a:rPr>
              <a:t>Наше </a:t>
            </a:r>
            <a:r>
              <a:rPr lang="uk-UA" sz="1300" dirty="0">
                <a:solidFill>
                  <a:schemeClr val="dk1"/>
                </a:solidFill>
              </a:rPr>
              <a:t>завдання</a:t>
            </a:r>
            <a:r>
              <a:rPr lang="uk" sz="1300" dirty="0">
                <a:solidFill>
                  <a:schemeClr val="dk1"/>
                </a:solidFill>
              </a:rPr>
              <a:t> —</a:t>
            </a:r>
            <a:r>
              <a:rPr lang="ru-RU" sz="1300" dirty="0">
                <a:solidFill>
                  <a:schemeClr val="dk1"/>
                </a:solidFill>
              </a:rPr>
              <a:t> </a:t>
            </a:r>
            <a:r>
              <a:rPr lang="uk-UA" sz="1300" dirty="0">
                <a:solidFill>
                  <a:schemeClr val="dk1"/>
                </a:solidFill>
              </a:rPr>
              <a:t>зробити так, щоб, незалежно від довжини </a:t>
            </a:r>
            <a:r>
              <a:rPr lang="ru-RU" sz="1300" dirty="0">
                <a:solidFill>
                  <a:schemeClr val="dk1"/>
                </a:solidFill>
              </a:rPr>
              <a:t>тексту (</a:t>
            </a:r>
            <a:r>
              <a:rPr lang="en-US" sz="1300" dirty="0">
                <a:solidFill>
                  <a:schemeClr val="dk1"/>
                </a:solidFill>
              </a:rPr>
              <a:t>Home, Contacts), </a:t>
            </a:r>
            <a:r>
              <a:rPr lang="uk-UA" sz="1300" dirty="0">
                <a:solidFill>
                  <a:schemeClr val="dk1"/>
                </a:solidFill>
              </a:rPr>
              <a:t>він займав весь простір. </a:t>
            </a:r>
            <a:r>
              <a:rPr lang="ru-RU" sz="1300" dirty="0">
                <a:solidFill>
                  <a:schemeClr val="dk1"/>
                </a:solidFill>
              </a:rPr>
              <a:t>Атрибут </a:t>
            </a:r>
            <a:r>
              <a:rPr lang="en-US" sz="1300" b="1" dirty="0">
                <a:solidFill>
                  <a:schemeClr val="accent1"/>
                </a:solidFill>
              </a:rPr>
              <a:t>display: block </a:t>
            </a:r>
            <a:r>
              <a:rPr lang="uk-UA" sz="1300" dirty="0">
                <a:solidFill>
                  <a:schemeClr val="dk1"/>
                </a:solidFill>
              </a:rPr>
              <a:t>дає змогу встановити такого типу властивість. 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1300" dirty="0">
                <a:solidFill>
                  <a:schemeClr val="dk1"/>
                </a:solidFill>
              </a:rPr>
              <a:t>Для шрифта задамо атрибут з такими властивостями: </a:t>
            </a:r>
            <a:r>
              <a:rPr lang="uk" sz="1300" b="1" dirty="0">
                <a:solidFill>
                  <a:schemeClr val="accent1"/>
                </a:solidFill>
              </a:rPr>
              <a:t>font: bold 13px sans-serif</a:t>
            </a:r>
            <a:r>
              <a:rPr lang="uk" sz="1300" dirty="0">
                <a:solidFill>
                  <a:schemeClr val="dk1"/>
                </a:solidFill>
              </a:rPr>
              <a:t>. </a:t>
            </a:r>
            <a:r>
              <a:rPr lang="uk-UA" sz="1300" dirty="0">
                <a:solidFill>
                  <a:schemeClr val="dk1"/>
                </a:solidFill>
              </a:rPr>
              <a:t>У результаті ми отримаємо жирне накреслення </a:t>
            </a:r>
            <a:r>
              <a:rPr lang="ru-RU" sz="1300" dirty="0">
                <a:solidFill>
                  <a:schemeClr val="dk1"/>
                </a:solidFill>
              </a:rPr>
              <a:t>(</a:t>
            </a:r>
            <a:r>
              <a:rPr lang="en-US" sz="1300" dirty="0">
                <a:solidFill>
                  <a:schemeClr val="dk1"/>
                </a:solidFill>
              </a:rPr>
              <a:t>bold</a:t>
            </a:r>
            <a:r>
              <a:rPr lang="ru-RU" sz="1300" dirty="0">
                <a:solidFill>
                  <a:schemeClr val="dk1"/>
                </a:solidFill>
              </a:rPr>
              <a:t>) </a:t>
            </a:r>
            <a:r>
              <a:rPr lang="uk-UA" sz="1300" dirty="0">
                <a:solidFill>
                  <a:schemeClr val="dk1"/>
                </a:solidFill>
              </a:rPr>
              <a:t>розміром 13px без засічок </a:t>
            </a:r>
            <a:r>
              <a:rPr lang="ru-RU" sz="1300" dirty="0">
                <a:solidFill>
                  <a:schemeClr val="dk1"/>
                </a:solidFill>
              </a:rPr>
              <a:t>(</a:t>
            </a:r>
            <a:r>
              <a:rPr lang="en-US" sz="1300" dirty="0">
                <a:solidFill>
                  <a:schemeClr val="dk1"/>
                </a:solidFill>
              </a:rPr>
              <a:t>sans-serif</a:t>
            </a:r>
            <a:r>
              <a:rPr lang="ru-RU" sz="1300" dirty="0">
                <a:solidFill>
                  <a:schemeClr val="dk1"/>
                </a:solidFill>
              </a:rPr>
              <a:t>). Сам текст </a:t>
            </a:r>
            <a:r>
              <a:rPr lang="uk-UA" sz="1300" dirty="0">
                <a:solidFill>
                  <a:schemeClr val="dk1"/>
                </a:solidFill>
              </a:rPr>
              <a:t>розташуємо в центрі </a:t>
            </a:r>
            <a:r>
              <a:rPr lang="ru-RU" sz="1300" dirty="0">
                <a:solidFill>
                  <a:schemeClr val="dk1"/>
                </a:solidFill>
              </a:rPr>
              <a:t>блоку</a:t>
            </a:r>
            <a:r>
              <a:rPr lang="uk" sz="1300" dirty="0">
                <a:solidFill>
                  <a:schemeClr val="dk1"/>
                </a:solidFill>
              </a:rPr>
              <a:t> </a:t>
            </a:r>
            <a:r>
              <a:rPr lang="uk" sz="1300" b="1" dirty="0">
                <a:solidFill>
                  <a:schemeClr val="accent1"/>
                </a:solidFill>
              </a:rPr>
              <a:t>text-align: center</a:t>
            </a:r>
            <a:r>
              <a:rPr lang="uk" sz="1300" dirty="0">
                <a:solidFill>
                  <a:schemeClr val="dk1"/>
                </a:solidFill>
              </a:rPr>
              <a:t>, а підкреслення посилань приберемо взагалі </a:t>
            </a:r>
            <a:r>
              <a:rPr lang="uk" sz="1300" b="1" dirty="0">
                <a:solidFill>
                  <a:schemeClr val="accent1"/>
                </a:solidFill>
              </a:rPr>
              <a:t>text-decoration: none.</a:t>
            </a:r>
            <a:endParaRPr sz="1300" b="1" dirty="0">
              <a:solidFill>
                <a:schemeClr val="accent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500" dirty="0">
              <a:solidFill>
                <a:schemeClr val="dk1"/>
              </a:solidFill>
            </a:endParaRPr>
          </a:p>
        </p:txBody>
      </p:sp>
      <p:pic>
        <p:nvPicPr>
          <p:cNvPr id="212" name="Google Shape;212;g22c7558df01_0_1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9425" y="857075"/>
            <a:ext cx="1615550" cy="100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g22c7558df01_0_1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9421" y="2426846"/>
            <a:ext cx="2485700" cy="213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g22c7558df01_0_17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g22c7558df01_0_178"/>
          <p:cNvSpPr txBox="1">
            <a:spLocks noGrp="1"/>
          </p:cNvSpPr>
          <p:nvPr>
            <p:ph type="title"/>
          </p:nvPr>
        </p:nvSpPr>
        <p:spPr>
          <a:xfrm>
            <a:off x="180400" y="259800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Hover-ефект</a:t>
            </a:r>
            <a:endParaRPr sz="1620" b="1" dirty="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0" name="Google Shape;220;g22c7558df01_0_1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8175" y="1812188"/>
            <a:ext cx="3420574" cy="2565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g22c7558df01_0_1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2325" y="1963875"/>
            <a:ext cx="4461675" cy="202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g22c7558df01_0_1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g22c7558df01_0_192"/>
          <p:cNvSpPr txBox="1">
            <a:spLocks noGrp="1"/>
          </p:cNvSpPr>
          <p:nvPr>
            <p:ph type="title"/>
          </p:nvPr>
        </p:nvSpPr>
        <p:spPr>
          <a:xfrm>
            <a:off x="180400" y="259800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Створюємо hover-ефект</a:t>
            </a:r>
            <a:endParaRPr sz="1620" b="1" dirty="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8" name="Google Shape;228;g22c7558df01_0_1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9675" y="1176375"/>
            <a:ext cx="2429325" cy="96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g22c7558df01_0_1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5111" y="3026500"/>
            <a:ext cx="3928364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g22c7558df01_0_192"/>
          <p:cNvSpPr txBox="1">
            <a:spLocks noGrp="1"/>
          </p:cNvSpPr>
          <p:nvPr>
            <p:ph type="body" idx="1"/>
          </p:nvPr>
        </p:nvSpPr>
        <p:spPr>
          <a:xfrm>
            <a:off x="4806175" y="1701800"/>
            <a:ext cx="4260300" cy="11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uk" sz="1400" b="1" dirty="0">
                <a:solidFill>
                  <a:schemeClr val="accent1"/>
                </a:solidFill>
              </a:rPr>
              <a:t>Hover-ефект </a:t>
            </a:r>
            <a:r>
              <a:rPr lang="uk" sz="1400" dirty="0">
                <a:solidFill>
                  <a:schemeClr val="dk1"/>
                </a:solidFill>
              </a:rPr>
              <a:t>– </a:t>
            </a:r>
            <a:r>
              <a:rPr lang="uk-UA" sz="1400" dirty="0">
                <a:solidFill>
                  <a:schemeClr val="dk1"/>
                </a:solidFill>
              </a:rPr>
              <a:t>це технологія вебанімації, завдяки якій елементи сайту змінюють свій вигляд при наведенні на них курсору або кліку по них</a:t>
            </a:r>
            <a:r>
              <a:rPr lang="uk" sz="1400" dirty="0">
                <a:solidFill>
                  <a:schemeClr val="dk1"/>
                </a:solidFill>
              </a:rPr>
              <a:t>.</a:t>
            </a:r>
            <a:endParaRPr sz="14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g22c7558df01_0_20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g22c7558df01_0_206"/>
          <p:cNvSpPr txBox="1">
            <a:spLocks noGrp="1"/>
          </p:cNvSpPr>
          <p:nvPr>
            <p:ph type="title"/>
          </p:nvPr>
        </p:nvSpPr>
        <p:spPr>
          <a:xfrm>
            <a:off x="180400" y="259800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Робота із зображеннями</a:t>
            </a:r>
            <a:endParaRPr sz="1620" b="1" dirty="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g22c7558df01_0_206"/>
          <p:cNvSpPr txBox="1">
            <a:spLocks noGrp="1"/>
          </p:cNvSpPr>
          <p:nvPr>
            <p:ph type="body" idx="1"/>
          </p:nvPr>
        </p:nvSpPr>
        <p:spPr>
          <a:xfrm>
            <a:off x="4720625" y="414375"/>
            <a:ext cx="4360200" cy="4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uk-UA" sz="1300" dirty="0">
                <a:solidFill>
                  <a:schemeClr val="dk1"/>
                </a:solidFill>
              </a:rPr>
              <a:t>Для додавання зображення на вебсторінку існує спеціальний тег </a:t>
            </a:r>
            <a:r>
              <a:rPr lang="uk" sz="1300" b="1" dirty="0">
                <a:solidFill>
                  <a:schemeClr val="accent1"/>
                </a:solidFill>
              </a:rPr>
              <a:t>&lt;img&gt;</a:t>
            </a:r>
            <a:r>
              <a:rPr lang="uk" sz="1300" dirty="0">
                <a:solidFill>
                  <a:schemeClr val="dk1"/>
                </a:solidFill>
              </a:rPr>
              <a:t>.</a:t>
            </a:r>
            <a:endParaRPr sz="13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3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uk" sz="1300" b="1" dirty="0">
                <a:solidFill>
                  <a:schemeClr val="accent1"/>
                </a:solidFill>
              </a:rPr>
              <a:t>src:</a:t>
            </a:r>
            <a:r>
              <a:rPr lang="uk" sz="1300" dirty="0">
                <a:solidFill>
                  <a:schemeClr val="dk1"/>
                </a:solidFill>
              </a:rPr>
              <a:t> </a:t>
            </a:r>
            <a:r>
              <a:rPr lang="uk-UA" sz="1300" dirty="0">
                <a:solidFill>
                  <a:schemeClr val="dk1"/>
                </a:solidFill>
              </a:rPr>
              <a:t>визначає URL-адресу зображення, яке має бути відображено в тезі </a:t>
            </a:r>
            <a:r>
              <a:rPr lang="uk" sz="1300" dirty="0">
                <a:solidFill>
                  <a:schemeClr val="dk1"/>
                </a:solidFill>
              </a:rPr>
              <a:t>&lt;img&gt;.</a:t>
            </a:r>
            <a:endParaRPr sz="13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uk" sz="1300" b="1" dirty="0">
                <a:solidFill>
                  <a:schemeClr val="accent1"/>
                </a:solidFill>
              </a:rPr>
              <a:t>align:</a:t>
            </a:r>
            <a:r>
              <a:rPr lang="uk" sz="1300" dirty="0">
                <a:solidFill>
                  <a:schemeClr val="dk1"/>
                </a:solidFill>
              </a:rPr>
              <a:t> </a:t>
            </a:r>
            <a:r>
              <a:rPr lang="uk-UA" sz="1300" dirty="0">
                <a:solidFill>
                  <a:schemeClr val="dk1"/>
                </a:solidFill>
              </a:rPr>
              <a:t>визначає вирівнювання зображення щодо навколишнього тексту. У наведеному прикладі зображення вирівнюється по лівому краю.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uk" sz="1300" b="1" dirty="0">
                <a:solidFill>
                  <a:schemeClr val="accent1"/>
                </a:solidFill>
              </a:rPr>
              <a:t>alt:</a:t>
            </a:r>
            <a:r>
              <a:rPr lang="uk" sz="1300" dirty="0">
                <a:solidFill>
                  <a:schemeClr val="dk1"/>
                </a:solidFill>
              </a:rPr>
              <a:t> </a:t>
            </a:r>
            <a:r>
              <a:rPr lang="uk-UA" sz="1300" dirty="0">
                <a:solidFill>
                  <a:schemeClr val="dk1"/>
                </a:solidFill>
              </a:rPr>
              <a:t>вказує альтернативний текст, який відображатиметься замість зображення, якщо його не можна завантажити або воно не відображається в правильному форматі.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uk" sz="1300" b="1" dirty="0">
                <a:solidFill>
                  <a:schemeClr val="accent1"/>
                </a:solidFill>
              </a:rPr>
              <a:t>width:</a:t>
            </a:r>
            <a:r>
              <a:rPr lang="uk" sz="1300" dirty="0">
                <a:solidFill>
                  <a:schemeClr val="dk1"/>
                </a:solidFill>
              </a:rPr>
              <a:t> </a:t>
            </a:r>
            <a:r>
              <a:rPr lang="uk-UA" sz="1300" dirty="0">
                <a:solidFill>
                  <a:schemeClr val="dk1"/>
                </a:solidFill>
              </a:rPr>
              <a:t>встановлює ширину зображення в пікселях або відсотках щодо розмірів батьківського елемента.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uk" sz="1300" b="1" dirty="0">
                <a:solidFill>
                  <a:schemeClr val="accent1"/>
                </a:solidFill>
              </a:rPr>
              <a:t>vspace:</a:t>
            </a:r>
            <a:r>
              <a:rPr lang="uk" sz="1300" dirty="0">
                <a:solidFill>
                  <a:schemeClr val="dk1"/>
                </a:solidFill>
              </a:rPr>
              <a:t> </a:t>
            </a:r>
            <a:r>
              <a:rPr lang="uk-UA" sz="1300" dirty="0">
                <a:solidFill>
                  <a:schemeClr val="dk1"/>
                </a:solidFill>
              </a:rPr>
              <a:t>визначає кількість вертикального простору (у пікселях) між зображенням і навколишнім текстом.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uk" sz="1300" b="1" dirty="0">
                <a:solidFill>
                  <a:schemeClr val="accent1"/>
                </a:solidFill>
              </a:rPr>
              <a:t>draggable:</a:t>
            </a:r>
            <a:r>
              <a:rPr lang="uk" sz="1300" dirty="0">
                <a:solidFill>
                  <a:schemeClr val="dk1"/>
                </a:solidFill>
              </a:rPr>
              <a:t> </a:t>
            </a:r>
            <a:r>
              <a:rPr lang="uk-UA" sz="1300" dirty="0">
                <a:solidFill>
                  <a:schemeClr val="dk1"/>
                </a:solidFill>
              </a:rPr>
              <a:t>визначає, чи може користувач перетягувати зображення за допомогою миші або сенсорного пристрою. У наведеному прикладі зображення не можна перетягувати.</a:t>
            </a:r>
          </a:p>
        </p:txBody>
      </p:sp>
      <p:pic>
        <p:nvPicPr>
          <p:cNvPr id="238" name="Google Shape;238;g22c7558df01_0_20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475" y="1598247"/>
            <a:ext cx="3758625" cy="158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g22c7558df01_0_2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g22c7558df01_0_218"/>
          <p:cNvSpPr txBox="1">
            <a:spLocks noGrp="1"/>
          </p:cNvSpPr>
          <p:nvPr>
            <p:ph type="title"/>
          </p:nvPr>
        </p:nvSpPr>
        <p:spPr>
          <a:xfrm>
            <a:off x="180400" y="259800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Робота із зображеннями</a:t>
            </a:r>
            <a:endParaRPr sz="1620" b="1" dirty="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g22c7558df01_0_218"/>
          <p:cNvSpPr txBox="1">
            <a:spLocks noGrp="1"/>
          </p:cNvSpPr>
          <p:nvPr>
            <p:ph type="body" idx="1"/>
          </p:nvPr>
        </p:nvSpPr>
        <p:spPr>
          <a:xfrm>
            <a:off x="4703302" y="813850"/>
            <a:ext cx="4360200" cy="18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uk-UA" sz="1300" dirty="0">
                <a:solidFill>
                  <a:schemeClr val="dk1"/>
                </a:solidFill>
              </a:rPr>
              <a:t>Задамо стилі нашій картинці.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ru-RU" sz="13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300" b="1" dirty="0">
                <a:solidFill>
                  <a:schemeClr val="dk1"/>
                </a:solidFill>
              </a:rPr>
              <a:t>margin</a:t>
            </a:r>
            <a:r>
              <a:rPr lang="en-US" sz="1300" dirty="0">
                <a:solidFill>
                  <a:schemeClr val="dk1"/>
                </a:solidFill>
              </a:rPr>
              <a:t>: </a:t>
            </a:r>
            <a:r>
              <a:rPr lang="uk-UA" sz="1300" dirty="0">
                <a:solidFill>
                  <a:schemeClr val="dk1"/>
                </a:solidFill>
              </a:rPr>
              <a:t>визначає зовнішні відступи для елемента. </a:t>
            </a:r>
            <a:r>
              <a:rPr lang="en-US" sz="1300" b="1" dirty="0">
                <a:solidFill>
                  <a:schemeClr val="dk1"/>
                </a:solidFill>
              </a:rPr>
              <a:t>background-color</a:t>
            </a:r>
            <a:r>
              <a:rPr lang="en-US" sz="1300" dirty="0">
                <a:solidFill>
                  <a:schemeClr val="dk1"/>
                </a:solidFill>
              </a:rPr>
              <a:t>: </a:t>
            </a:r>
            <a:r>
              <a:rPr lang="uk-UA" sz="1300" dirty="0">
                <a:solidFill>
                  <a:schemeClr val="dk1"/>
                </a:solidFill>
              </a:rPr>
              <a:t>визначає колір фону елемента.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300" b="1" dirty="0">
                <a:solidFill>
                  <a:schemeClr val="dk1"/>
                </a:solidFill>
              </a:rPr>
              <a:t>border-radius</a:t>
            </a:r>
            <a:r>
              <a:rPr lang="en-US" sz="1300" dirty="0">
                <a:solidFill>
                  <a:schemeClr val="dk1"/>
                </a:solidFill>
              </a:rPr>
              <a:t>: </a:t>
            </a:r>
            <a:r>
              <a:rPr lang="uk-UA" sz="1300" dirty="0">
                <a:solidFill>
                  <a:schemeClr val="dk1"/>
                </a:solidFill>
              </a:rPr>
              <a:t>визначає радіус заокруглення кутів елемента. 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300" b="1" dirty="0">
                <a:solidFill>
                  <a:schemeClr val="dk1"/>
                </a:solidFill>
              </a:rPr>
              <a:t>box-shadow</a:t>
            </a:r>
            <a:r>
              <a:rPr lang="en-US" sz="1300" dirty="0">
                <a:solidFill>
                  <a:schemeClr val="dk1"/>
                </a:solidFill>
              </a:rPr>
              <a:t>: </a:t>
            </a:r>
            <a:r>
              <a:rPr lang="uk-UA" sz="1300" dirty="0">
                <a:solidFill>
                  <a:schemeClr val="dk1"/>
                </a:solidFill>
              </a:rPr>
              <a:t>задає зображенню тінь.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300" b="1" dirty="0">
                <a:solidFill>
                  <a:schemeClr val="dk1"/>
                </a:solidFill>
              </a:rPr>
              <a:t>border</a:t>
            </a:r>
            <a:r>
              <a:rPr lang="en-US" sz="1300" dirty="0">
                <a:solidFill>
                  <a:schemeClr val="dk1"/>
                </a:solidFill>
              </a:rPr>
              <a:t>: </a:t>
            </a:r>
            <a:r>
              <a:rPr lang="uk-UA" sz="1300" dirty="0">
                <a:solidFill>
                  <a:schemeClr val="dk1"/>
                </a:solidFill>
              </a:rPr>
              <a:t>визначає межу елемента. </a:t>
            </a:r>
            <a:endParaRPr lang="uk-UA" sz="1300" b="1" dirty="0">
              <a:solidFill>
                <a:schemeClr val="accent1"/>
              </a:solidFill>
            </a:endParaRPr>
          </a:p>
        </p:txBody>
      </p:sp>
      <p:pic>
        <p:nvPicPr>
          <p:cNvPr id="246" name="Google Shape;246;g22c7558df01_0_2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8875" y="952850"/>
            <a:ext cx="3003649" cy="154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g22c7558df01_0_2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5275" y="2901275"/>
            <a:ext cx="3210853" cy="181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2c7558df01_0_229"/>
          <p:cNvSpPr txBox="1">
            <a:spLocks noGrp="1"/>
          </p:cNvSpPr>
          <p:nvPr>
            <p:ph type="body" idx="1"/>
          </p:nvPr>
        </p:nvSpPr>
        <p:spPr>
          <a:xfrm>
            <a:off x="1267500" y="311675"/>
            <a:ext cx="6609000" cy="12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uk" sz="2083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Фінальний результат:</a:t>
            </a:r>
            <a:endParaRPr sz="21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3" name="Google Shape;253;g22c7558df01_0_229"/>
          <p:cNvPicPr preferRelativeResize="0"/>
          <p:nvPr/>
        </p:nvPicPr>
        <p:blipFill rotWithShape="1">
          <a:blip r:embed="rId3">
            <a:alphaModFix/>
          </a:blip>
          <a:srcRect l="621" r="720"/>
          <a:stretch/>
        </p:blipFill>
        <p:spPr>
          <a:xfrm>
            <a:off x="522100" y="1014075"/>
            <a:ext cx="7919876" cy="3636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5531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Закріпимо вивчений матеріал:</a:t>
            </a:r>
            <a:endParaRPr sz="1620" b="1" dirty="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" name="Google Shape;260;p17"/>
          <p:cNvSpPr txBox="1">
            <a:spLocks noGrp="1"/>
          </p:cNvSpPr>
          <p:nvPr>
            <p:ph type="body" idx="1"/>
          </p:nvPr>
        </p:nvSpPr>
        <p:spPr>
          <a:xfrm>
            <a:off x="443600" y="1184225"/>
            <a:ext cx="4084800" cy="33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➔"/>
            </a:pPr>
            <a:r>
              <a:rPr lang="uk-UA" sz="1200" dirty="0">
                <a:solidFill>
                  <a:schemeClr val="dk1"/>
                </a:solidFill>
              </a:rPr>
              <a:t>Що нового для себе дізналися? Що навчилися робити? </a:t>
            </a:r>
          </a:p>
          <a:p>
            <a: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➔"/>
            </a:pPr>
            <a:r>
              <a:rPr lang="uk-UA" sz="1200" dirty="0">
                <a:solidFill>
                  <a:schemeClr val="dk1"/>
                </a:solidFill>
              </a:rPr>
              <a:t>Що ми називаємо списками? Які види списків існують?</a:t>
            </a:r>
          </a:p>
          <a:p>
            <a: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➔"/>
            </a:pPr>
            <a:r>
              <a:rPr lang="uk-UA" sz="1200" dirty="0">
                <a:solidFill>
                  <a:schemeClr val="dk1"/>
                </a:solidFill>
              </a:rPr>
              <a:t>Як створити списки в </a:t>
            </a:r>
            <a:r>
              <a:rPr lang="en-US" sz="1200" dirty="0">
                <a:solidFill>
                  <a:schemeClr val="dk1"/>
                </a:solidFill>
              </a:rPr>
              <a:t>HTML?</a:t>
            </a:r>
          </a:p>
          <a:p>
            <a: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➔"/>
            </a:pPr>
            <a:r>
              <a:rPr lang="uk-UA" sz="1200" dirty="0">
                <a:solidFill>
                  <a:schemeClr val="dk1"/>
                </a:solidFill>
              </a:rPr>
              <a:t>Який атрибут дає змогу задати маркери спискам? Які стилі маркерів ви запам'ятали?</a:t>
            </a:r>
          </a:p>
          <a:p>
            <a: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➔"/>
            </a:pPr>
            <a:r>
              <a:rPr lang="uk-UA" sz="1200" dirty="0">
                <a:solidFill>
                  <a:schemeClr val="dk1"/>
                </a:solidFill>
              </a:rPr>
              <a:t>Як додати зображення на сторінку?</a:t>
            </a:r>
          </a:p>
          <a:p>
            <a: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➔"/>
            </a:pPr>
            <a:r>
              <a:rPr lang="uk-UA" sz="1200" dirty="0">
                <a:solidFill>
                  <a:schemeClr val="dk1"/>
                </a:solidFill>
              </a:rPr>
              <a:t>Які атрибути пов'язані з роботою із зображенням ми сьогодні вивчили?</a:t>
            </a:r>
          </a:p>
          <a:p>
            <a: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➔"/>
            </a:pPr>
            <a:r>
              <a:rPr lang="uk-UA" sz="1200" dirty="0">
                <a:solidFill>
                  <a:schemeClr val="dk1"/>
                </a:solidFill>
              </a:rPr>
              <a:t>Як перетворити картинку на посилання?</a:t>
            </a:r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</p:txBody>
      </p:sp>
      <p:pic>
        <p:nvPicPr>
          <p:cNvPr id="261" name="Google Shape;261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47475" y="897125"/>
            <a:ext cx="3232775" cy="323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g22c58f83361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g22c58f83361_0_0"/>
          <p:cNvSpPr txBox="1">
            <a:spLocks noGrp="1"/>
          </p:cNvSpPr>
          <p:nvPr>
            <p:ph type="title"/>
          </p:nvPr>
        </p:nvSpPr>
        <p:spPr>
          <a:xfrm>
            <a:off x="514900" y="462777"/>
            <a:ext cx="5531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Домашнє завдання:</a:t>
            </a:r>
            <a:endParaRPr sz="1620" b="1" dirty="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" name="Google Shape;268;g22c58f83361_0_0"/>
          <p:cNvSpPr txBox="1">
            <a:spLocks noGrp="1"/>
          </p:cNvSpPr>
          <p:nvPr>
            <p:ph type="body" idx="1"/>
          </p:nvPr>
        </p:nvSpPr>
        <p:spPr>
          <a:xfrm>
            <a:off x="311676" y="1213412"/>
            <a:ext cx="4084800" cy="3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048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➔"/>
            </a:pPr>
            <a:r>
              <a:rPr lang="uk" sz="1200" b="1" dirty="0">
                <a:solidFill>
                  <a:schemeClr val="dk1"/>
                </a:solidFill>
              </a:rPr>
              <a:t>Завдання 1. </a:t>
            </a:r>
            <a:r>
              <a:rPr lang="uk-UA" sz="1200" dirty="0">
                <a:solidFill>
                  <a:schemeClr val="dk1"/>
                </a:solidFill>
              </a:rPr>
              <a:t>Створіть маркований і нумерований списки за зразком у файлі </a:t>
            </a:r>
            <a:r>
              <a:rPr lang="uk" sz="1200" dirty="0">
                <a:solidFill>
                  <a:schemeClr val="dk1"/>
                </a:solidFill>
              </a:rPr>
              <a:t>“</a:t>
            </a:r>
            <a:r>
              <a:rPr lang="uk" sz="1200" b="1" dirty="0">
                <a:solidFill>
                  <a:schemeClr val="accent1"/>
                </a:solidFill>
              </a:rPr>
              <a:t>Домашнее_задание_занятие_3</a:t>
            </a:r>
            <a:r>
              <a:rPr lang="uk" sz="1200" dirty="0">
                <a:solidFill>
                  <a:schemeClr val="dk1"/>
                </a:solidFill>
              </a:rPr>
              <a:t>”.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457200" lvl="0" indent="-3048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➔"/>
            </a:pPr>
            <a:r>
              <a:rPr lang="uk" sz="1200" b="1" dirty="0">
                <a:solidFill>
                  <a:schemeClr val="dk1"/>
                </a:solidFill>
              </a:rPr>
              <a:t>Завдання 2.</a:t>
            </a:r>
            <a:r>
              <a:rPr lang="uk" sz="1200" dirty="0">
                <a:solidFill>
                  <a:schemeClr val="dk1"/>
                </a:solidFill>
              </a:rPr>
              <a:t> </a:t>
            </a:r>
            <a:r>
              <a:rPr lang="uk-UA" sz="1200" dirty="0">
                <a:solidFill>
                  <a:schemeClr val="dk1"/>
                </a:solidFill>
              </a:rPr>
              <a:t>Скористайтеся наведеним до завдання кодом або посиланням на ресурс </a:t>
            </a:r>
            <a:r>
              <a:rPr lang="uk-UA" sz="1200" dirty="0" err="1">
                <a:solidFill>
                  <a:schemeClr val="dk1"/>
                </a:solidFill>
              </a:rPr>
              <a:t>CodePen</a:t>
            </a:r>
            <a:r>
              <a:rPr lang="uk-UA" sz="1200" dirty="0">
                <a:solidFill>
                  <a:schemeClr val="dk1"/>
                </a:solidFill>
              </a:rPr>
              <a:t> у файлі </a:t>
            </a:r>
            <a:r>
              <a:rPr lang="uk" sz="1200" dirty="0">
                <a:solidFill>
                  <a:schemeClr val="dk1"/>
                </a:solidFill>
              </a:rPr>
              <a:t>“</a:t>
            </a:r>
            <a:r>
              <a:rPr lang="uk" sz="1200" b="1" dirty="0">
                <a:solidFill>
                  <a:schemeClr val="accent1"/>
                </a:solidFill>
              </a:rPr>
              <a:t>Домашнее_задание_занятие_3</a:t>
            </a:r>
            <a:r>
              <a:rPr lang="uk" sz="1200" dirty="0">
                <a:solidFill>
                  <a:schemeClr val="dk1"/>
                </a:solidFill>
              </a:rPr>
              <a:t>”. </a:t>
            </a:r>
            <a:r>
              <a:rPr lang="uk-UA" sz="1200" dirty="0">
                <a:solidFill>
                  <a:schemeClr val="dk1"/>
                </a:solidFill>
              </a:rPr>
              <a:t>Виконайте зазначені дії із зображеннями, щоб отримати фінальний результат згідно зі зразком.</a:t>
            </a:r>
          </a:p>
        </p:txBody>
      </p:sp>
      <p:pic>
        <p:nvPicPr>
          <p:cNvPr id="269" name="Google Shape;269;g22c58f83361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7525" y="698079"/>
            <a:ext cx="4263749" cy="1930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g22c58f83361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6225" y="2909400"/>
            <a:ext cx="4186350" cy="166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847</Words>
  <Application>Microsoft Office PowerPoint</Application>
  <PresentationFormat>Экран (16:9)</PresentationFormat>
  <Paragraphs>75</Paragraphs>
  <Slides>26</Slides>
  <Notes>26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0" baseType="lpstr">
      <vt:lpstr>Roboto</vt:lpstr>
      <vt:lpstr>Arial</vt:lpstr>
      <vt:lpstr>Roboto Black</vt:lpstr>
      <vt:lpstr>Simple Light</vt:lpstr>
      <vt:lpstr>Презентация PowerPoint</vt:lpstr>
      <vt:lpstr>Що використовували веброзробники для структурування інформації на сайті?</vt:lpstr>
      <vt:lpstr>Що використовували веброзробники для структурування інформації на сайті?</vt:lpstr>
      <vt:lpstr>Що використовували веброзробники для структурування інформації на сайті?</vt:lpstr>
      <vt:lpstr>Що використано в наступних прикладах  для поліпшення візуального сприйняття сторінки?</vt:lpstr>
      <vt:lpstr>Що використано в наступних прикладах  для поліпшення візуального сприйняття сторінки?</vt:lpstr>
      <vt:lpstr>Урок 3. Списки. Зображення</vt:lpstr>
      <vt:lpstr>Наші завдання на заняття:</vt:lpstr>
      <vt:lpstr>Приклади списків</vt:lpstr>
      <vt:lpstr>Що таке список?</vt:lpstr>
      <vt:lpstr>Види списків</vt:lpstr>
      <vt:lpstr>Створимо маркований список</vt:lpstr>
      <vt:lpstr>Презентация PowerPoint</vt:lpstr>
      <vt:lpstr>Створимо нумерований список</vt:lpstr>
      <vt:lpstr>Презентация PowerPoint</vt:lpstr>
      <vt:lpstr>Меню навігації</vt:lpstr>
      <vt:lpstr>Меню навігації</vt:lpstr>
      <vt:lpstr>Створюємо меню навігації</vt:lpstr>
      <vt:lpstr>Створюємо меню навігації</vt:lpstr>
      <vt:lpstr>Hover-ефект</vt:lpstr>
      <vt:lpstr>Створюємо hover-ефект</vt:lpstr>
      <vt:lpstr>Робота із зображеннями</vt:lpstr>
      <vt:lpstr>Робота із зображеннями</vt:lpstr>
      <vt:lpstr>Презентация PowerPoint</vt:lpstr>
      <vt:lpstr>Закріпимо вивчений матеріал:</vt:lpstr>
      <vt:lpstr>Домашнє завдання: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Анна</dc:creator>
  <cp:lastModifiedBy>Анна Короткевич</cp:lastModifiedBy>
  <cp:revision>7</cp:revision>
  <dcterms:modified xsi:type="dcterms:W3CDTF">2023-10-23T09:02:44Z</dcterms:modified>
</cp:coreProperties>
</file>