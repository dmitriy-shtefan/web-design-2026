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Black" panose="02000000000000000000" pitchFamily="2" charset="0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N4BiNj7VCx8x2OJRWgQkIRomX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C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8"/>
    <p:restoredTop sz="94658"/>
  </p:normalViewPr>
  <p:slideViewPr>
    <p:cSldViewPr snapToGrid="0">
      <p:cViewPr varScale="1">
        <p:scale>
          <a:sx n="160" d="100"/>
          <a:sy n="160" d="100"/>
        </p:scale>
        <p:origin x="768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76012AB-9C69-DBFC-C413-949F6FBB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2D625E94-12EB-43C0-0CED-E9D62B778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25CAECE5-1642-5066-DFE4-BFFF9FB04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696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02" name="Google Shape;1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10" name="Google Shape;1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74" name="Google Shape;17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90" name="Google Shape;19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98" name="Google Shape;19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2c6bf639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206" name="Google Shape;206;g22c6bf639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6AEF1C-EC50-A496-F6B5-827794AE7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987" y="4286824"/>
            <a:ext cx="2032001" cy="5228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3D8585-94BA-0B40-CE81-55703E23A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52" y="299786"/>
            <a:ext cx="1295513" cy="66626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D0E796E-F1B7-19BB-EFE9-328B95F4CB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8533" y="1074043"/>
            <a:ext cx="1179372" cy="1189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655D8A-1E71-65ED-FBC5-A4612BB218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836" y="2390880"/>
            <a:ext cx="1524000" cy="1524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C967BA-7049-ED62-CB5A-CAB2D529DC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5573" y="2390880"/>
            <a:ext cx="1524000" cy="1524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02889B-75CB-C00E-CC05-CA7047D135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5573" y="745435"/>
            <a:ext cx="1524000" cy="1524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9A70AB-D60C-66B8-E10C-D676521BAE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5836" y="743591"/>
            <a:ext cx="1534078" cy="1534078"/>
          </a:xfrm>
          <a:prstGeom prst="rect">
            <a:avLst/>
          </a:prstGeom>
        </p:spPr>
      </p:pic>
      <p:sp>
        <p:nvSpPr>
          <p:cNvPr id="17" name="Name">
            <a:extLst>
              <a:ext uri="{FF2B5EF4-FFF2-40B4-BE49-F238E27FC236}">
                <a16:creationId xmlns:a16="http://schemas.microsoft.com/office/drawing/2014/main" id="{3D22B9BE-94B8-97A5-83FE-F0230533F6DC}"/>
              </a:ext>
            </a:extLst>
          </p:cNvPr>
          <p:cNvSpPr/>
          <p:nvPr/>
        </p:nvSpPr>
        <p:spPr>
          <a:xfrm>
            <a:off x="318052" y="1926535"/>
            <a:ext cx="356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</a:rPr>
              <a:t>Дмитро </a:t>
            </a:r>
            <a:r>
              <a:rPr lang="uk-UA" sz="3600" b="1" dirty="0">
                <a:solidFill>
                  <a:schemeClr val="tx1"/>
                </a:solidFill>
                <a:latin typeface="Calibri" pitchFamily="34" charset="0"/>
              </a:rPr>
              <a:t>Штефан</a:t>
            </a:r>
            <a:endParaRPr lang="en-US" sz="3600" b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8" name="Role">
            <a:extLst>
              <a:ext uri="{FF2B5EF4-FFF2-40B4-BE49-F238E27FC236}">
                <a16:creationId xmlns:a16="http://schemas.microsoft.com/office/drawing/2014/main" id="{07D243DD-5309-A1D1-F3E7-FF85EF6362E1}"/>
              </a:ext>
            </a:extLst>
          </p:cNvPr>
          <p:cNvSpPr/>
          <p:nvPr/>
        </p:nvSpPr>
        <p:spPr>
          <a:xfrm>
            <a:off x="318051" y="2661405"/>
            <a:ext cx="459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</a:rPr>
              <a:t>Data Team Technical Lead | STEP School Teacher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D1C51F-177C-D783-63EF-04C78AB0AE4E}"/>
              </a:ext>
            </a:extLst>
          </p:cNvPr>
          <p:cNvSpPr txBox="1"/>
          <p:nvPr/>
        </p:nvSpPr>
        <p:spPr>
          <a:xfrm>
            <a:off x="246488" y="3253457"/>
            <a:ext cx="17748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</a:rPr>
              <a:t>💬 Telegram</a:t>
            </a:r>
          </a:p>
          <a:p>
            <a:pPr>
              <a:spcAft>
                <a:spcPts val="800"/>
              </a:spcAft>
            </a:pPr>
            <a:r>
              <a:rPr lang="en-US" dirty="0">
                <a:solidFill>
                  <a:schemeClr val="accent1"/>
                </a:solidFill>
                <a:latin typeface="Consolas" pitchFamily="34" charset="0"/>
              </a:rPr>
              <a:t>@dmitriy_shtefan</a:t>
            </a:r>
          </a:p>
          <a:p>
            <a:endParaRPr lang="en-U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A380CCB-A542-7562-7278-048C5789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>
            <a:extLst>
              <a:ext uri="{FF2B5EF4-FFF2-40B4-BE49-F238E27FC236}">
                <a16:creationId xmlns:a16="http://schemas.microsoft.com/office/drawing/2014/main" id="{2EC5F294-36AE-9CD0-8332-9F4C5676A8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>
            <a:extLst>
              <a:ext uri="{FF2B5EF4-FFF2-40B4-BE49-F238E27FC236}">
                <a16:creationId xmlns:a16="http://schemas.microsoft.com/office/drawing/2014/main" id="{B18068D4-C760-86FB-2143-40F0AD00C1B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E3037EEC-4245-408B-2C1F-730D304E139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81200" y="1667226"/>
            <a:ext cx="6981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uk" sz="3180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Вебдизайн </a:t>
            </a:r>
            <a:br>
              <a:rPr lang="uk" sz="3180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" sz="3180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(HTML &amp; CSS)</a:t>
            </a:r>
            <a:endParaRPr sz="3180" b="1" dirty="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" name="Google Shape;58;p1">
            <a:extLst>
              <a:ext uri="{FF2B5EF4-FFF2-40B4-BE49-F238E27FC236}">
                <a16:creationId xmlns:a16="http://schemas.microsoft.com/office/drawing/2014/main" id="{41C8D2C7-447C-E653-6452-A335F50406B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4493" b="20847"/>
          <a:stretch/>
        </p:blipFill>
        <p:spPr>
          <a:xfrm>
            <a:off x="3403662" y="2760434"/>
            <a:ext cx="2336676" cy="127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135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Хто такий веброзробник?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2"/>
          <p:cNvSpPr txBox="1">
            <a:spLocks noGrp="1"/>
          </p:cNvSpPr>
          <p:nvPr>
            <p:ph type="body" idx="1"/>
          </p:nvPr>
        </p:nvSpPr>
        <p:spPr>
          <a:xfrm>
            <a:off x="396225" y="1653000"/>
            <a:ext cx="4349700" cy="21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89"/>
              <a:buFont typeface="Arial"/>
              <a:buNone/>
            </a:pPr>
            <a:r>
              <a:rPr lang="uk" sz="2283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Веброзробник </a:t>
            </a:r>
            <a:r>
              <a:rPr lang="uk" sz="228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 це програміст, який займається створенням і підтримкою вебсайтів і вебдодатків. </a:t>
            </a:r>
            <a:endParaRPr/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9875" y="1146112"/>
            <a:ext cx="3345350" cy="285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746550" y="3274950"/>
            <a:ext cx="19518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647"/>
              <a:buNone/>
            </a:pPr>
            <a:r>
              <a:rPr lang="uk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Гаррі Робертс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8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Успішні молоді веброзробники</a:t>
            </a:r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body" idx="1"/>
          </p:nvPr>
        </p:nvSpPr>
        <p:spPr>
          <a:xfrm>
            <a:off x="3596100" y="3274950"/>
            <a:ext cx="19518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uk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Кіт Кембрідж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3"/>
          <p:cNvSpPr txBox="1">
            <a:spLocks noGrp="1"/>
          </p:cNvSpPr>
          <p:nvPr>
            <p:ph type="body" idx="1"/>
          </p:nvPr>
        </p:nvSpPr>
        <p:spPr>
          <a:xfrm>
            <a:off x="6445650" y="3274950"/>
            <a:ext cx="19518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uk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Сіндре Сорхус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" name="Google Shape;76;p3"/>
          <p:cNvPicPr preferRelativeResize="0"/>
          <p:nvPr/>
        </p:nvPicPr>
        <p:blipFill rotWithShape="1">
          <a:blip r:embed="rId4">
            <a:alphaModFix/>
          </a:blip>
          <a:srcRect l="5577" r="15972" b="24067"/>
          <a:stretch/>
        </p:blipFill>
        <p:spPr>
          <a:xfrm>
            <a:off x="660950" y="1130175"/>
            <a:ext cx="2124500" cy="199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 txBox="1">
            <a:spLocks noGrp="1"/>
          </p:cNvSpPr>
          <p:nvPr>
            <p:ph type="body" idx="1"/>
          </p:nvPr>
        </p:nvSpPr>
        <p:spPr>
          <a:xfrm>
            <a:off x="481850" y="3901125"/>
            <a:ext cx="2490025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uk" sz="14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Старший розробник користувацького інтерфейсу в BSkyB. Уперше почав займатися розробкою у віці 16 років.</a:t>
            </a:r>
            <a:endParaRPr dirty="0"/>
          </a:p>
        </p:txBody>
      </p:sp>
      <p:sp>
        <p:nvSpPr>
          <p:cNvPr id="78" name="Google Shape;78;p3"/>
          <p:cNvSpPr txBox="1">
            <a:spLocks noGrp="1"/>
          </p:cNvSpPr>
          <p:nvPr>
            <p:ph type="body" idx="1"/>
          </p:nvPr>
        </p:nvSpPr>
        <p:spPr>
          <a:xfrm>
            <a:off x="3285122" y="3901125"/>
            <a:ext cx="2616081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uk" sz="14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Програміст корпоративного мультимедійного застосунку Voxer. Почав працювати розробником-самоучкою у віці 15 років.</a:t>
            </a:r>
            <a:endParaRPr dirty="0"/>
          </a:p>
        </p:txBody>
      </p:sp>
      <p:sp>
        <p:nvSpPr>
          <p:cNvPr id="79" name="Google Shape;79;p3"/>
          <p:cNvSpPr txBox="1">
            <a:spLocks noGrp="1"/>
          </p:cNvSpPr>
          <p:nvPr>
            <p:ph type="body" idx="1"/>
          </p:nvPr>
        </p:nvSpPr>
        <p:spPr>
          <a:xfrm>
            <a:off x="6214450" y="3888600"/>
            <a:ext cx="24477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uk" sz="14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Норвезький консультант, займається розробкою з 19 років. Спеціалізується на JavaScript.</a:t>
            </a:r>
            <a:endParaRPr/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5">
            <a:alphaModFix/>
          </a:blip>
          <a:srcRect t="12494"/>
          <a:stretch/>
        </p:blipFill>
        <p:spPr>
          <a:xfrm>
            <a:off x="3518450" y="1130175"/>
            <a:ext cx="2124500" cy="19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1100" y="1130175"/>
            <a:ext cx="2124499" cy="202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uk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Ознайомимося з основами сучасних технологій створення сайтів на HTML5 і CSS3; </a:t>
            </a:r>
            <a:endParaRPr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uk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Вивчимо базовий синтаксис HTML і CSS;</a:t>
            </a:r>
            <a:endParaRPr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uk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Створимо свій власний перший сайт.</a:t>
            </a:r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45720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ми вивчимо на цьому курсі?</a:t>
            </a:r>
            <a:endParaRPr/>
          </a:p>
        </p:txBody>
      </p:sp>
      <p:pic>
        <p:nvPicPr>
          <p:cNvPr id="89" name="Google Shape;89;p4"/>
          <p:cNvPicPr preferRelativeResize="0"/>
          <p:nvPr/>
        </p:nvPicPr>
        <p:blipFill rotWithShape="1">
          <a:blip r:embed="rId4">
            <a:alphaModFix/>
          </a:blip>
          <a:srcRect l="21130" r="18147"/>
          <a:stretch/>
        </p:blipFill>
        <p:spPr>
          <a:xfrm>
            <a:off x="449725" y="662038"/>
            <a:ext cx="3727174" cy="38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>
            <a:spLocks noGrp="1"/>
          </p:cNvSpPr>
          <p:nvPr>
            <p:ph type="ctrTitle"/>
          </p:nvPr>
        </p:nvSpPr>
        <p:spPr>
          <a:xfrm>
            <a:off x="311700" y="195352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92592"/>
              <a:buNone/>
            </a:pPr>
            <a:r>
              <a:rPr lang="uk" sz="3000" dirty="0">
                <a:solidFill>
                  <a:srgbClr val="3C78D8"/>
                </a:solidFill>
                <a:highlight>
                  <a:srgbClr val="FFFFFF"/>
                </a:highlight>
                <a:latin typeface="Roboto Black"/>
                <a:ea typeface="Roboto Black"/>
                <a:cs typeface="Roboto Black"/>
                <a:sym typeface="Roboto Black"/>
              </a:rPr>
              <a:t>Вступ до світу веброзробки</a:t>
            </a:r>
            <a:endParaRPr dirty="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7" name="Google Shape;97;p5"/>
          <p:cNvSpPr txBox="1">
            <a:spLocks noGrp="1"/>
          </p:cNvSpPr>
          <p:nvPr>
            <p:ph type="subTitle" idx="1"/>
          </p:nvPr>
        </p:nvSpPr>
        <p:spPr>
          <a:xfrm>
            <a:off x="1081200" y="1063173"/>
            <a:ext cx="6981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uk" sz="1979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Вебдизайн </a:t>
            </a:r>
            <a:br>
              <a:rPr lang="uk" sz="1979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" sz="1979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(HTML &amp; CSS)</a:t>
            </a:r>
            <a:endParaRPr sz="1979" b="1" dirty="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5"/>
          <p:cNvPicPr preferRelativeResize="0"/>
          <p:nvPr/>
        </p:nvPicPr>
        <p:blipFill rotWithShape="1">
          <a:blip r:embed="rId5">
            <a:alphaModFix/>
          </a:blip>
          <a:srcRect t="24493" b="20847"/>
          <a:stretch/>
        </p:blipFill>
        <p:spPr>
          <a:xfrm>
            <a:off x="3403650" y="3076673"/>
            <a:ext cx="2336676" cy="12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➔"/>
            </a:pPr>
            <a:r>
              <a:rPr lang="uk" sz="1300" dirty="0">
                <a:solidFill>
                  <a:schemeClr val="dk1"/>
                </a:solidFill>
              </a:rPr>
              <a:t>Познайомитись з поняттями Frontend- і Backend-розробка;</a:t>
            </a:r>
            <a:endParaRPr dirty="0"/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➔"/>
            </a:pPr>
            <a:r>
              <a:rPr lang="uk" sz="1300" dirty="0">
                <a:solidFill>
                  <a:schemeClr val="dk1"/>
                </a:solidFill>
              </a:rPr>
              <a:t>Вивчити призначення та основні можливості мови розмітки HTML для створення Web-сторінок;</a:t>
            </a:r>
            <a:endParaRPr dirty="0"/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➔"/>
            </a:pPr>
            <a:r>
              <a:rPr lang="uk" sz="1300" dirty="0">
                <a:solidFill>
                  <a:schemeClr val="dk1"/>
                </a:solidFill>
              </a:rPr>
              <a:t>Навчитися створювати просту програму, використовуючи основні теги.</a:t>
            </a:r>
            <a:endParaRPr dirty="0"/>
          </a:p>
        </p:txBody>
      </p:sp>
      <p:sp>
        <p:nvSpPr>
          <p:cNvPr id="106" name="Google Shape;106;p6"/>
          <p:cNvSpPr txBox="1">
            <a:spLocks noGrp="1"/>
          </p:cNvSpPr>
          <p:nvPr>
            <p:ph type="title"/>
          </p:nvPr>
        </p:nvSpPr>
        <p:spPr>
          <a:xfrm>
            <a:off x="45720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Наші завдання на заняття:</a:t>
            </a:r>
            <a:endParaRPr sz="1620"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750" y="885800"/>
            <a:ext cx="4210764" cy="33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 txBox="1">
            <a:spLocks noGrp="1"/>
          </p:cNvSpPr>
          <p:nvPr>
            <p:ph type="body" idx="1"/>
          </p:nvPr>
        </p:nvSpPr>
        <p:spPr>
          <a:xfrm>
            <a:off x="4725650" y="69082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Frontend-розробник створює ту частину сайту або вебсервісу, яку видно користувачам.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 його завдань входить:</a:t>
            </a:r>
            <a:endParaRPr/>
          </a:p>
          <a:p>
            <a:pPr marL="457200" lvl="0" indent="-2984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❏"/>
            </a:pPr>
            <a:r>
              <a:rPr lang="uk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оформити зовнішній вигляд сторінки;</a:t>
            </a:r>
            <a:endParaRPr/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❏"/>
            </a:pPr>
            <a:r>
              <a:rPr lang="uk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створити вебсайт, який буде правильно відкриватися на різних пристроях;</a:t>
            </a:r>
            <a:endParaRPr/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❏"/>
            </a:pPr>
            <a:r>
              <a:rPr lang="uk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зробити робочими і динамічними всі елементи на сторінці – посилання, кнопки, форми реєстрації.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4" name="Google Shape;114;p7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Backend-розробник</a:t>
            </a:r>
            <a:endParaRPr sz="1620"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7"/>
          <p:cNvSpPr txBox="1">
            <a:spLocks noGrp="1"/>
          </p:cNvSpPr>
          <p:nvPr>
            <p:ph type="title"/>
          </p:nvPr>
        </p:nvSpPr>
        <p:spPr>
          <a:xfrm>
            <a:off x="47313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Frontend-розробник</a:t>
            </a:r>
            <a:endParaRPr sz="1620"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7"/>
          <p:cNvSpPr txBox="1">
            <a:spLocks noGrp="1"/>
          </p:cNvSpPr>
          <p:nvPr>
            <p:ph type="body" idx="1"/>
          </p:nvPr>
        </p:nvSpPr>
        <p:spPr>
          <a:xfrm>
            <a:off x="180400" y="69082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Backend-розробник забезпечує процеси, які відбуваються на сервері – комп'ютері, що зберігає інформацію і видає її за запитом.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Ця частина прихована від очей користувача, оскільки відбувається за межами його браузера або окремого комп'ютера. 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5682" y="2709216"/>
            <a:ext cx="4260301" cy="2314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Backend-розробник</a:t>
            </a:r>
            <a:endParaRPr sz="1620"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8"/>
          <p:cNvSpPr txBox="1">
            <a:spLocks noGrp="1"/>
          </p:cNvSpPr>
          <p:nvPr>
            <p:ph type="title"/>
          </p:nvPr>
        </p:nvSpPr>
        <p:spPr>
          <a:xfrm>
            <a:off x="47313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Frontend-розробник</a:t>
            </a:r>
            <a:endParaRPr sz="1620"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8" descr="database-designed-project · GitHub Topics · GitHub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3432" y="1211766"/>
            <a:ext cx="3801238" cy="271996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 txBox="1"/>
          <p:nvPr/>
        </p:nvSpPr>
        <p:spPr>
          <a:xfrm>
            <a:off x="353432" y="4310999"/>
            <a:ext cx="29179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uk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Проектування бази даних</a:t>
            </a:r>
            <a:endParaRPr/>
          </a:p>
        </p:txBody>
      </p:sp>
      <p:pic>
        <p:nvPicPr>
          <p:cNvPr id="127" name="Google Shape;127;p8" descr="CRM Software Examples: Why Your Team Needs This Too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4266" y="1211766"/>
            <a:ext cx="4365379" cy="271996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8"/>
          <p:cNvSpPr txBox="1"/>
          <p:nvPr/>
        </p:nvSpPr>
        <p:spPr>
          <a:xfrm>
            <a:off x="4832900" y="4285938"/>
            <a:ext cx="362836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uk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Створення інтерфейсу для введення даних у базу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Backend-розробник</a:t>
            </a:r>
            <a:endParaRPr sz="1620"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9"/>
          <p:cNvSpPr txBox="1">
            <a:spLocks noGrp="1"/>
          </p:cNvSpPr>
          <p:nvPr>
            <p:ph type="title"/>
          </p:nvPr>
        </p:nvSpPr>
        <p:spPr>
          <a:xfrm>
            <a:off x="47313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Frontend-розробник</a:t>
            </a:r>
            <a:endParaRPr sz="1620"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347268" y="4237199"/>
            <a:ext cx="37776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uk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Робота над функціонуванням системи для створення та проведення платежів (передачею, отриманням інформації від користувача та різних платіжних систем).</a:t>
            </a:r>
            <a:endParaRPr/>
          </a:p>
        </p:txBody>
      </p:sp>
      <p:sp>
        <p:nvSpPr>
          <p:cNvPr id="137" name="Google Shape;137;p9"/>
          <p:cNvSpPr txBox="1"/>
          <p:nvPr/>
        </p:nvSpPr>
        <p:spPr>
          <a:xfrm>
            <a:off x="4748716" y="4299100"/>
            <a:ext cx="357994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uk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Розробка інтерфейсу для створення та проведення платежів.</a:t>
            </a:r>
            <a:endParaRPr/>
          </a:p>
        </p:txBody>
      </p:sp>
      <p:pic>
        <p:nvPicPr>
          <p:cNvPr id="138" name="Google Shape;13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268" y="832500"/>
            <a:ext cx="3783839" cy="3329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9" descr="Pin on Платежная система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03302" y="832500"/>
            <a:ext cx="4398555" cy="3298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2"/>
          <p:cNvPicPr preferRelativeResize="0"/>
          <p:nvPr/>
        </p:nvPicPr>
        <p:blipFill rotWithShape="1">
          <a:blip r:embed="rId3">
            <a:alphaModFix/>
          </a:blip>
          <a:srcRect l="6375" r="10290"/>
          <a:stretch/>
        </p:blipFill>
        <p:spPr>
          <a:xfrm>
            <a:off x="234900" y="1915338"/>
            <a:ext cx="4424274" cy="2758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 txBox="1">
            <a:spLocks noGrp="1"/>
          </p:cNvSpPr>
          <p:nvPr>
            <p:ph type="body" idx="1"/>
          </p:nvPr>
        </p:nvSpPr>
        <p:spPr>
          <a:xfrm>
            <a:off x="1267500" y="311675"/>
            <a:ext cx="6609000" cy="1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uk" sz="2483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HTML </a:t>
            </a:r>
            <a:br>
              <a:rPr lang="uk" sz="2483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HyperText Markup Language – </a:t>
            </a:r>
            <a:br>
              <a:rPr lang="uk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мова розмітки гіпертексту</a:t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4399" y="1928350"/>
            <a:ext cx="4267202" cy="273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531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таке теги?</a:t>
            </a:r>
            <a:endParaRPr sz="1620"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1"/>
          </p:nvPr>
        </p:nvSpPr>
        <p:spPr>
          <a:xfrm>
            <a:off x="443600" y="1184225"/>
            <a:ext cx="4084800" cy="16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101733"/>
              <a:buNone/>
            </a:pPr>
            <a:r>
              <a:rPr lang="uk" sz="2283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Теги — </a:t>
            </a:r>
            <a:r>
              <a:rPr lang="uk" sz="228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 спеціальні слова, які дають змогу відобразити на сторінці будь-який контент (текст, зображення, відео-ролики).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1" name="Google Shape;17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28400" y="1017725"/>
            <a:ext cx="4265825" cy="27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4"/>
          <p:cNvSpPr txBox="1">
            <a:spLocks noGrp="1"/>
          </p:cNvSpPr>
          <p:nvPr>
            <p:ph type="body" idx="1"/>
          </p:nvPr>
        </p:nvSpPr>
        <p:spPr>
          <a:xfrm>
            <a:off x="4725650" y="69082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 самому початку файлу вказується </a:t>
            </a:r>
            <a:r>
              <a:rPr lang="uk" sz="11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&lt;!DOCTYPE html&gt;</a:t>
            </a: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Це не тег, а інструкція браузеру про те, яку версію HTML було використано для написання сторінки. У цьому випадку – це HTML5. 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Далі знаходиться тег </a:t>
            </a:r>
            <a:r>
              <a:rPr lang="uk" sz="11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&lt;html&gt;</a:t>
            </a: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в якому зберігається весь вміст сторінки. 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Усередині тега </a:t>
            </a:r>
            <a:r>
              <a:rPr lang="uk" sz="11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&lt;head&gt; </a:t>
            </a: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міститься вся необхідна браузеру інформація для роботи з документом. Вміст цього тега на сторінці не відображається. 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Усередині </a:t>
            </a:r>
            <a:r>
              <a:rPr lang="uk" sz="11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&lt;body&gt; </a:t>
            </a: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міститиметься те, що в результаті відобразиться на сторінці.</a:t>
            </a:r>
            <a:endParaRPr/>
          </a:p>
        </p:txBody>
      </p:sp>
      <p:sp>
        <p:nvSpPr>
          <p:cNvPr id="178" name="Google Shape;178;p14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20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Структура вебсторінки</a:t>
            </a:r>
            <a:endParaRPr sz="200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877" y="992686"/>
            <a:ext cx="3109965" cy="2664914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5"/>
          <p:cNvSpPr txBox="1">
            <a:spLocks noGrp="1"/>
          </p:cNvSpPr>
          <p:nvPr>
            <p:ph type="body" idx="1"/>
          </p:nvPr>
        </p:nvSpPr>
        <p:spPr>
          <a:xfrm>
            <a:off x="4662975" y="477750"/>
            <a:ext cx="4333800" cy="44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1578"/>
              <a:buNone/>
            </a:pPr>
            <a:r>
              <a:rPr lang="uk" sz="19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Атрибути</a:t>
            </a:r>
            <a:r>
              <a:rPr lang="uk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призначені для надання додаткової інформації про елемент. Їх завжди вказують усередині тега, що відкриває, і вони мають таку структуру запису: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1578"/>
              <a:buNone/>
            </a:pPr>
            <a:r>
              <a:rPr lang="uk" sz="19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&lt;тег атрибут_тега="значення_атрибута"&gt;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578"/>
              <a:buNone/>
            </a:pPr>
            <a:r>
              <a:rPr lang="uk" sz="19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&lt;meta charset="utf-8"&gt; </a:t>
            </a:r>
            <a:r>
              <a:rPr lang="uk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для розпізнавання інтерпретатором кодування вебсторінки.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578"/>
              <a:buNone/>
            </a:pPr>
            <a:r>
              <a:rPr lang="uk" sz="19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&lt;meta name="viewport" content="width=device-width, initial-scale=1"&gt; </a:t>
            </a:r>
            <a:r>
              <a:rPr lang="uk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щоб сайт коректно відображався на різних пристроях.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578"/>
              <a:buNone/>
            </a:pPr>
            <a:r>
              <a:rPr lang="uk" sz="19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&lt;meta name="description" content="Incredibles 2"&gt; </a:t>
            </a:r>
            <a:r>
              <a:rPr lang="uk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опис сторінки. 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578"/>
              <a:buNone/>
            </a:pPr>
            <a:r>
              <a:rPr lang="uk" sz="19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&lt;meta name="keywords" content="Incredibles, superhero, pixar"&gt; </a:t>
            </a:r>
            <a:r>
              <a:rPr lang="uk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ключові слова, які допомагають користувачам знайти ваш сайт у мережі після запиту.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578"/>
              <a:buNone/>
            </a:pPr>
            <a:r>
              <a:rPr lang="uk" sz="19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&lt;meta name="author" content="Alex"&gt;</a:t>
            </a:r>
            <a:r>
              <a:rPr lang="uk" sz="19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uk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вказування автора документа.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13017"/>
              <a:buNone/>
            </a:pPr>
            <a:endParaRPr sz="1352"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261818"/>
              <a:buNone/>
            </a:pP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15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20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Атрибути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813" y="906000"/>
            <a:ext cx="4333875" cy="28956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 txBox="1">
            <a:spLocks noGrp="1"/>
          </p:cNvSpPr>
          <p:nvPr>
            <p:ph type="body" idx="1"/>
          </p:nvPr>
        </p:nvSpPr>
        <p:spPr>
          <a:xfrm>
            <a:off x="4621100" y="863489"/>
            <a:ext cx="4696178" cy="40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7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&lt;title&gt;</a:t>
            </a:r>
            <a:r>
              <a:rPr lang="uk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заголовок вебсторінки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7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&lt;h1&gt;,&lt;h2&gt;,&lt;h3&gt;,&lt;h4&gt;,&lt;h5&gt;,&lt;h6&gt;</a:t>
            </a:r>
            <a:r>
              <a:rPr lang="uk" sz="17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uk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заголовки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7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&lt;p&gt; </a:t>
            </a:r>
            <a:r>
              <a:rPr lang="uk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тег абзацу, параграфу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7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&lt;b&gt;,&lt;i&gt; </a:t>
            </a:r>
            <a:r>
              <a:rPr lang="uk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напівжирний шрифт і курсив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7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&lt;hr&gt;</a:t>
            </a:r>
            <a:r>
              <a:rPr lang="uk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розділювач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7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&lt;br&gt; </a:t>
            </a:r>
            <a:r>
              <a:rPr lang="uk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перенесення тексту на наступний рядок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352"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20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Приклад сторінки</a:t>
            </a:r>
            <a:endParaRPr sz="200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DB4EAF-3D81-46EB-D547-048303CB5CFE}"/>
              </a:ext>
            </a:extLst>
          </p:cNvPr>
          <p:cNvSpPr txBox="1"/>
          <p:nvPr/>
        </p:nvSpPr>
        <p:spPr>
          <a:xfrm>
            <a:off x="294895" y="1161361"/>
            <a:ext cx="4031310" cy="2677656"/>
          </a:xfrm>
          <a:prstGeom prst="rect">
            <a:avLst/>
          </a:prstGeom>
          <a:solidFill>
            <a:srgbClr val="262C4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&lt;h1&gt;</a:t>
            </a:r>
            <a:r>
              <a:rPr lang="en-UA" dirty="0">
                <a:solidFill>
                  <a:schemeClr val="tx2"/>
                </a:solidFill>
              </a:rPr>
              <a:t>👋 </a:t>
            </a:r>
            <a:r>
              <a:rPr lang="ru-RU" dirty="0">
                <a:solidFill>
                  <a:schemeClr val="tx2"/>
                </a:solidFill>
              </a:rPr>
              <a:t>Привіт! Я Максим&lt;/</a:t>
            </a:r>
            <a:r>
              <a:rPr lang="en-US" dirty="0">
                <a:solidFill>
                  <a:schemeClr val="tx2"/>
                </a:solidFill>
              </a:rPr>
              <a:t>h1&gt;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&lt;p&gt;</a:t>
            </a:r>
            <a:r>
              <a:rPr lang="ru-RU" dirty="0">
                <a:solidFill>
                  <a:schemeClr val="tx2"/>
                </a:solidFill>
              </a:rPr>
              <a:t>Мені 1</a:t>
            </a:r>
            <a:r>
              <a:rPr lang="en-US" dirty="0">
                <a:solidFill>
                  <a:schemeClr val="tx2"/>
                </a:solidFill>
              </a:rPr>
              <a:t>3</a:t>
            </a:r>
            <a:r>
              <a:rPr lang="ru-RU" dirty="0">
                <a:solidFill>
                  <a:schemeClr val="tx2"/>
                </a:solidFill>
              </a:rPr>
              <a:t> років.&lt;/</a:t>
            </a:r>
            <a:r>
              <a:rPr lang="en-US" dirty="0">
                <a:solidFill>
                  <a:schemeClr val="tx2"/>
                </a:solidFill>
              </a:rPr>
              <a:t>p&gt;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&lt;h2&gt;</a:t>
            </a:r>
            <a:r>
              <a:rPr lang="en-UA" dirty="0">
                <a:solidFill>
                  <a:schemeClr val="tx2"/>
                </a:solidFill>
              </a:rPr>
              <a:t>🎮 </a:t>
            </a:r>
            <a:r>
              <a:rPr lang="ru-RU" dirty="0">
                <a:solidFill>
                  <a:schemeClr val="tx2"/>
                </a:solidFill>
              </a:rPr>
              <a:t>Мої улюблені ігри&lt;/</a:t>
            </a:r>
            <a:r>
              <a:rPr lang="en-US" dirty="0">
                <a:solidFill>
                  <a:schemeClr val="tx2"/>
                </a:solidFill>
              </a:rPr>
              <a:t>h2&gt;</a:t>
            </a:r>
          </a:p>
          <a:p>
            <a:r>
              <a:rPr lang="en-US" dirty="0">
                <a:solidFill>
                  <a:schemeClr val="tx2"/>
                </a:solidFill>
              </a:rPr>
              <a:t>&lt;p&gt;Minecraft, Brawl Stars, Fortnite&lt;/p&gt;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&lt;h2&gt;</a:t>
            </a:r>
            <a:r>
              <a:rPr lang="en-UA" dirty="0">
                <a:solidFill>
                  <a:schemeClr val="tx2"/>
                </a:solidFill>
              </a:rPr>
              <a:t>🎵 </a:t>
            </a:r>
            <a:r>
              <a:rPr lang="ru-RU" dirty="0">
                <a:solidFill>
                  <a:schemeClr val="tx2"/>
                </a:solidFill>
              </a:rPr>
              <a:t>Улюблена музика&lt;/</a:t>
            </a:r>
            <a:r>
              <a:rPr lang="en-US" dirty="0">
                <a:solidFill>
                  <a:schemeClr val="tx2"/>
                </a:solidFill>
              </a:rPr>
              <a:t>h2&gt;</a:t>
            </a:r>
          </a:p>
          <a:p>
            <a:r>
              <a:rPr lang="en-US" dirty="0">
                <a:solidFill>
                  <a:schemeClr val="tx2"/>
                </a:solidFill>
              </a:rPr>
              <a:t>&lt;p&gt;Imagine Dragons&lt;/p&gt;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&lt;h2&gt;</a:t>
            </a:r>
            <a:r>
              <a:rPr lang="en-UA" dirty="0">
                <a:solidFill>
                  <a:schemeClr val="tx2"/>
                </a:solidFill>
              </a:rPr>
              <a:t>🚀 </a:t>
            </a:r>
            <a:r>
              <a:rPr lang="ru-RU" dirty="0">
                <a:solidFill>
                  <a:schemeClr val="tx2"/>
                </a:solidFill>
              </a:rPr>
              <a:t>Що я хочу навчитися робити?&lt;/</a:t>
            </a:r>
            <a:r>
              <a:rPr lang="en-US" dirty="0">
                <a:solidFill>
                  <a:schemeClr val="tx2"/>
                </a:solidFill>
              </a:rPr>
              <a:t>h2&gt;</a:t>
            </a:r>
          </a:p>
          <a:p>
            <a:r>
              <a:rPr lang="en-US" dirty="0">
                <a:solidFill>
                  <a:schemeClr val="tx2"/>
                </a:solidFill>
              </a:rPr>
              <a:t>&lt;p&gt;</a:t>
            </a:r>
            <a:r>
              <a:rPr lang="ru-RU" dirty="0">
                <a:solidFill>
                  <a:schemeClr val="tx2"/>
                </a:solidFill>
              </a:rPr>
              <a:t>Створювати сайти!&lt;/</a:t>
            </a:r>
            <a:r>
              <a:rPr lang="en-US" dirty="0">
                <a:solidFill>
                  <a:schemeClr val="tx2"/>
                </a:solidFill>
              </a:rPr>
              <a:t>p&gt;</a:t>
            </a:r>
            <a:endParaRPr lang="en-UA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0587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531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20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Закріпимо вивчений матеріал:</a:t>
            </a:r>
            <a:endParaRPr sz="200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17"/>
          <p:cNvSpPr txBox="1">
            <a:spLocks noGrp="1"/>
          </p:cNvSpPr>
          <p:nvPr>
            <p:ph type="body" idx="1"/>
          </p:nvPr>
        </p:nvSpPr>
        <p:spPr>
          <a:xfrm>
            <a:off x="487200" y="1073625"/>
            <a:ext cx="4084800" cy="3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457200" lvl="0" indent="-300539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➔"/>
            </a:pPr>
            <a:r>
              <a:rPr lang="uk" sz="3483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Чим займається веброзробник?</a:t>
            </a:r>
            <a:endParaRPr dirty="0"/>
          </a:p>
          <a:p>
            <a:pPr marL="457200" lvl="0" indent="-300539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➔"/>
            </a:pPr>
            <a:r>
              <a:rPr lang="uk" sz="3483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Чим відрізняється Frontend-розробка від Backend-розробки?</a:t>
            </a:r>
            <a:endParaRPr dirty="0"/>
          </a:p>
          <a:p>
            <a:pPr marL="457200" lvl="0" indent="-300539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➔"/>
            </a:pPr>
            <a:r>
              <a:rPr lang="uk" sz="3483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Що таке HTML?</a:t>
            </a:r>
            <a:endParaRPr dirty="0"/>
          </a:p>
          <a:p>
            <a:pPr marL="457200" lvl="0" indent="-300539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➔"/>
            </a:pPr>
            <a:r>
              <a:rPr lang="uk" sz="3483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Що таке тег? Які бувають теги? Які правила запису тегів існують?</a:t>
            </a:r>
            <a:endParaRPr dirty="0"/>
          </a:p>
          <a:p>
            <a:pPr marL="457200" lvl="0" indent="-300539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➔"/>
            </a:pPr>
            <a:r>
              <a:rPr lang="uk" sz="3483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Які теги запам'ятали і що вони означають?</a:t>
            </a:r>
            <a:endParaRPr dirty="0"/>
          </a:p>
        </p:txBody>
      </p:sp>
      <p:pic>
        <p:nvPicPr>
          <p:cNvPr id="203" name="Google Shape;20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47475" y="897125"/>
            <a:ext cx="3232775" cy="32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22c6bf639ac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22c6bf639ac_0_0"/>
          <p:cNvSpPr txBox="1">
            <a:spLocks noGrp="1"/>
          </p:cNvSpPr>
          <p:nvPr>
            <p:ph type="title"/>
          </p:nvPr>
        </p:nvSpPr>
        <p:spPr>
          <a:xfrm>
            <a:off x="311700" y="302676"/>
            <a:ext cx="5531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20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Домашнє завдання</a:t>
            </a:r>
            <a:endParaRPr sz="200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g22c6bf639ac_0_0"/>
          <p:cNvSpPr txBox="1">
            <a:spLocks noGrp="1"/>
          </p:cNvSpPr>
          <p:nvPr>
            <p:ph type="body" idx="1"/>
          </p:nvPr>
        </p:nvSpPr>
        <p:spPr>
          <a:xfrm>
            <a:off x="311700" y="877812"/>
            <a:ext cx="3433364" cy="241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605"/>
              <a:buNone/>
            </a:pPr>
            <a:r>
              <a:rPr lang="en-UA" sz="1600" b="1" dirty="0"/>
              <a:t>«Моя таємна сторінка»</a:t>
            </a:r>
            <a:br>
              <a:rPr lang="en-UA" sz="1600" dirty="0"/>
            </a:br>
            <a:r>
              <a:rPr lang="uk-UA" sz="1600" dirty="0"/>
              <a:t>Створити </a:t>
            </a:r>
            <a:r>
              <a:rPr lang="en-UA" sz="1600" dirty="0"/>
              <a:t>сторінку про себе, але </a:t>
            </a:r>
            <a:r>
              <a:rPr lang="en-UA" sz="1600" b="1" dirty="0"/>
              <a:t>не </a:t>
            </a:r>
            <a:r>
              <a:rPr lang="uk-UA" sz="1600" b="1" dirty="0"/>
              <a:t>вказати</a:t>
            </a:r>
            <a:r>
              <a:rPr lang="en-UA" sz="1600" b="1" dirty="0"/>
              <a:t> ім’я</a:t>
            </a:r>
            <a:r>
              <a:rPr lang="en-UA" sz="1600" dirty="0"/>
              <a:t>: </a:t>
            </a:r>
            <a:r>
              <a:rPr lang="uk-UA" sz="1600" dirty="0"/>
              <a:t>лише </a:t>
            </a:r>
            <a:r>
              <a:rPr lang="en-UA" sz="1600" dirty="0"/>
              <a:t>3 факти, улюблені речі, хобі, тощо. </a:t>
            </a:r>
          </a:p>
          <a:p>
            <a:pPr marL="0" lvl="0" indent="0">
              <a:buClr>
                <a:schemeClr val="dk1"/>
              </a:buClr>
              <a:buSzPts val="605"/>
              <a:buNone/>
            </a:pPr>
            <a:endParaRPr lang="en-UA" sz="1600" dirty="0"/>
          </a:p>
          <a:p>
            <a:pPr marL="0" lvl="0" indent="0">
              <a:buClr>
                <a:schemeClr val="dk1"/>
              </a:buClr>
              <a:buSzPts val="605"/>
              <a:buNone/>
            </a:pPr>
            <a:r>
              <a:rPr lang="en-UA" sz="1600" dirty="0"/>
              <a:t>На наступному уроці </a:t>
            </a:r>
            <a:r>
              <a:rPr lang="uk-UA" sz="1600" dirty="0"/>
              <a:t>потрібно буде вгадати </a:t>
            </a:r>
            <a:r>
              <a:rPr lang="en-UA" sz="1600" dirty="0"/>
              <a:t>автора.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767</Words>
  <Application>Microsoft Macintosh PowerPoint</Application>
  <PresentationFormat>On-screen Show (16:9)</PresentationFormat>
  <Paragraphs>86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Roboto</vt:lpstr>
      <vt:lpstr>Arial</vt:lpstr>
      <vt:lpstr>Calibri</vt:lpstr>
      <vt:lpstr>Roboto Black</vt:lpstr>
      <vt:lpstr>Consolas</vt:lpstr>
      <vt:lpstr>Simple Light</vt:lpstr>
      <vt:lpstr>PowerPoint Presentation</vt:lpstr>
      <vt:lpstr>PowerPoint Presentation</vt:lpstr>
      <vt:lpstr>Хто такий веброзробник?</vt:lpstr>
      <vt:lpstr>Успішні молоді веброзробники</vt:lpstr>
      <vt:lpstr>Що ми вивчимо на цьому курсі?</vt:lpstr>
      <vt:lpstr>Вступ до світу веброзробки</vt:lpstr>
      <vt:lpstr>Наші завдання на заняття:</vt:lpstr>
      <vt:lpstr>Backend-розробник</vt:lpstr>
      <vt:lpstr>Backend-розробник</vt:lpstr>
      <vt:lpstr>Backend-розробник</vt:lpstr>
      <vt:lpstr>PowerPoint Presentation</vt:lpstr>
      <vt:lpstr>Що таке теги?</vt:lpstr>
      <vt:lpstr>Структура вебсторінки</vt:lpstr>
      <vt:lpstr>Атрибути</vt:lpstr>
      <vt:lpstr>Приклад сторінки</vt:lpstr>
      <vt:lpstr>Закріпимо вивчений матеріал:</vt:lpstr>
      <vt:lpstr>Домашнє завдання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Анна</dc:creator>
  <cp:lastModifiedBy>Штефан Дмитро</cp:lastModifiedBy>
  <cp:revision>3</cp:revision>
  <dcterms:modified xsi:type="dcterms:W3CDTF">2026-09-06T13:15:42Z</dcterms:modified>
</cp:coreProperties>
</file>