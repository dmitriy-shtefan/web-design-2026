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Black"/>
      <p:bold r:id="rId24"/>
      <p:boldItalic r:id="rId25"/>
    </p:embeddedFon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N4BiNj7VCx8x2OJRWgQkIRomX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Black-bold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RobotoBlack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2c6bf639a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22c6bf639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11.jp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1.jp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23.png"/><Relationship Id="rId5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25.png"/><Relationship Id="rId5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081200" y="2271525"/>
            <a:ext cx="6981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uk" sz="318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Вебдизайн – Junior </a:t>
            </a:r>
            <a:br>
              <a:rPr b="1" lang="uk" sz="318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uk" sz="318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(HTML &amp; CSS)</a:t>
            </a:r>
            <a:endParaRPr b="1" sz="318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2588" y="436100"/>
            <a:ext cx="1017575" cy="104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6">
            <a:alphaModFix/>
          </a:blip>
          <a:srcRect b="20847" l="0" r="0" t="24493"/>
          <a:stretch/>
        </p:blipFill>
        <p:spPr>
          <a:xfrm>
            <a:off x="3503050" y="3317025"/>
            <a:ext cx="2336676" cy="1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Хто такий веброзробник?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396225" y="1653000"/>
            <a:ext cx="4349700" cy="2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89"/>
              <a:buFont typeface="Arial"/>
              <a:buNone/>
            </a:pPr>
            <a:r>
              <a:rPr b="1" lang="uk" sz="2283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Веброзробник </a:t>
            </a:r>
            <a:r>
              <a:rPr lang="uk" sz="22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 це програміст, який займається створенням і підтримкою вебсайтів і вебдодатків. </a:t>
            </a:r>
            <a:endParaRPr/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9875" y="1146112"/>
            <a:ext cx="3345350" cy="285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>
            <p:ph idx="1" type="body"/>
          </p:nvPr>
        </p:nvSpPr>
        <p:spPr>
          <a:xfrm>
            <a:off x="746550" y="3274950"/>
            <a:ext cx="19518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647"/>
              <a:buNone/>
            </a:pPr>
            <a:r>
              <a:rPr lang="uk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Гаррі Робертс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Успішні молоді веброзробники</a:t>
            </a:r>
            <a:endParaRPr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3596100" y="3274950"/>
            <a:ext cx="19518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uk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Кіт Кембрідж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6445650" y="3274950"/>
            <a:ext cx="19518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uk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Сіндре Сорхус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4">
            <a:alphaModFix/>
          </a:blip>
          <a:srcRect b="24067" l="5577" r="15972" t="0"/>
          <a:stretch/>
        </p:blipFill>
        <p:spPr>
          <a:xfrm>
            <a:off x="660950" y="1130175"/>
            <a:ext cx="2124500" cy="199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>
            <p:ph idx="1" type="body"/>
          </p:nvPr>
        </p:nvSpPr>
        <p:spPr>
          <a:xfrm>
            <a:off x="481850" y="3901125"/>
            <a:ext cx="2490025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uk" sz="14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Старший розробник користувацького інтерфейсу в BSkyB. Уперше почав займатися розробкою у віці 16 років.</a:t>
            </a:r>
            <a:endParaRPr/>
          </a:p>
        </p:txBody>
      </p:sp>
      <p:sp>
        <p:nvSpPr>
          <p:cNvPr id="78" name="Google Shape;78;p3"/>
          <p:cNvSpPr txBox="1"/>
          <p:nvPr>
            <p:ph idx="1" type="body"/>
          </p:nvPr>
        </p:nvSpPr>
        <p:spPr>
          <a:xfrm>
            <a:off x="3285122" y="3901125"/>
            <a:ext cx="2616081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uk" sz="14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Програміст корпоративного мультимедійного застосунку Voxer. Почав працювати розробником-самоучкою у віці 15 років.</a:t>
            </a:r>
            <a:endParaRPr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6214450" y="3888600"/>
            <a:ext cx="24477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uk" sz="14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Норвезький консультант, займається розробкою з 19 років. Спеціалізується на JavaScript.</a:t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5">
            <a:alphaModFix/>
          </a:blip>
          <a:srcRect b="0" l="0" r="0" t="12494"/>
          <a:stretch/>
        </p:blipFill>
        <p:spPr>
          <a:xfrm>
            <a:off x="3518450" y="1130175"/>
            <a:ext cx="2124500" cy="19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1100" y="1130175"/>
            <a:ext cx="2124499" cy="20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uk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Ознайомимося з основами сучасних технологій створення сайтів на HTML5 і CSS3; 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uk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Вивчимо базовий синтаксис HTML і CSS;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uk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Створимо свій власний перший сайт.</a:t>
            </a:r>
            <a:endParaRPr/>
          </a:p>
        </p:txBody>
      </p:sp>
      <p:sp>
        <p:nvSpPr>
          <p:cNvPr id="88" name="Google Shape;88;p4"/>
          <p:cNvSpPr txBox="1"/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ми вивчимо на цьому курсі?</a:t>
            </a:r>
            <a:endParaRPr/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4">
            <a:alphaModFix/>
          </a:blip>
          <a:srcRect b="0" l="21130" r="18147" t="0"/>
          <a:stretch/>
        </p:blipFill>
        <p:spPr>
          <a:xfrm>
            <a:off x="449725" y="662038"/>
            <a:ext cx="3727174" cy="38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>
            <p:ph type="ctrTitle"/>
          </p:nvPr>
        </p:nvSpPr>
        <p:spPr>
          <a:xfrm>
            <a:off x="311700" y="2422650"/>
            <a:ext cx="85206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92592"/>
              <a:buNone/>
            </a:pPr>
            <a:r>
              <a:rPr lang="uk" sz="300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  <a:t>Урок 1.</a:t>
            </a:r>
            <a:br>
              <a:rPr lang="uk" sz="300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</a:br>
            <a:r>
              <a:rPr lang="uk" sz="300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  <a:t>Вступ до світу веброзробки</a:t>
            </a:r>
            <a:endParaRPr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7" name="Google Shape;97;p5"/>
          <p:cNvSpPr txBox="1"/>
          <p:nvPr>
            <p:ph idx="1" type="subTitle"/>
          </p:nvPr>
        </p:nvSpPr>
        <p:spPr>
          <a:xfrm>
            <a:off x="1081200" y="1532300"/>
            <a:ext cx="6981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uk" sz="1979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Вебдизайн – Junior </a:t>
            </a:r>
            <a:br>
              <a:rPr b="1" lang="uk" sz="1979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uk" sz="1979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(HTML &amp; CSS)</a:t>
            </a:r>
            <a:endParaRPr b="1" sz="1979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36399" y="423675"/>
            <a:ext cx="671200" cy="6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6">
            <a:alphaModFix/>
          </a:blip>
          <a:srcRect b="20847" l="0" r="0" t="24493"/>
          <a:stretch/>
        </p:blipFill>
        <p:spPr>
          <a:xfrm>
            <a:off x="3403650" y="3545800"/>
            <a:ext cx="2336676" cy="1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➔"/>
            </a:pPr>
            <a:r>
              <a:rPr lang="uk" sz="1300">
                <a:solidFill>
                  <a:schemeClr val="dk1"/>
                </a:solidFill>
              </a:rPr>
              <a:t>Познайомитись з поняттями Frontend- і Backend-розробка, домен, хостинг;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➔"/>
            </a:pPr>
            <a:r>
              <a:rPr lang="uk" sz="1300">
                <a:solidFill>
                  <a:schemeClr val="dk1"/>
                </a:solidFill>
              </a:rPr>
              <a:t>Вивчити призначення та основні можливості мови розмітки HTML для створення Web-сторінок;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➔"/>
            </a:pPr>
            <a:r>
              <a:rPr lang="uk" sz="1300">
                <a:solidFill>
                  <a:schemeClr val="dk1"/>
                </a:solidFill>
              </a:rPr>
              <a:t>Зареєструватися на онлайн-платформі Codepen (знадобиться електронна пошта);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➔"/>
            </a:pPr>
            <a:r>
              <a:rPr lang="uk" sz="1300">
                <a:solidFill>
                  <a:schemeClr val="dk1"/>
                </a:solidFill>
              </a:rPr>
              <a:t>Навчитися створювати нові проєкти, зберігати їх і надсилати посилання на проєкт.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➔"/>
            </a:pPr>
            <a:r>
              <a:rPr lang="uk" sz="1300">
                <a:solidFill>
                  <a:schemeClr val="dk1"/>
                </a:solidFill>
              </a:rPr>
              <a:t>Навчитися створювати просту програму, використовуючи основні теги та атрибути.</a:t>
            </a:r>
            <a:endParaRPr/>
          </a:p>
        </p:txBody>
      </p:sp>
      <p:sp>
        <p:nvSpPr>
          <p:cNvPr id="106" name="Google Shape;106;p6"/>
          <p:cNvSpPr txBox="1"/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Наші завдання на заняття: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50" y="885800"/>
            <a:ext cx="4210764" cy="33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4725650" y="69082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Frontend-розробник створює ту частину сайту або вебсервісу, яку видно користувачам.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 його завдань входить:</a:t>
            </a:r>
            <a:endParaRPr/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❏"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оформити зовнішній вигляд сторінки;</a:t>
            </a:r>
            <a:endParaRPr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❏"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створити вебсайт, який буде правильно відкриватися на різних пристроях;</a:t>
            </a:r>
            <a:endParaRPr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❏"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зробити робочими і динамічними всі елементи на сторінці – посилання, кнопки, форми реєстрації.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4" name="Google Shape;114;p7"/>
          <p:cNvSpPr txBox="1"/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Backend-розробник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7"/>
          <p:cNvSpPr txBox="1"/>
          <p:nvPr>
            <p:ph type="title"/>
          </p:nvPr>
        </p:nvSpPr>
        <p:spPr>
          <a:xfrm>
            <a:off x="47313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Frontend-розробник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180400" y="69082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Backend-розробник забезпечує процеси, які відбуваються на сервері – комп'ютері, що зберігає інформацію і видає її за запитом.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Ця частина прихована від очей користувача, оскільки відбувається за межами його браузера або окремого комп'ютера.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682" y="2709216"/>
            <a:ext cx="4260301" cy="2314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 txBox="1"/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Backend-розробник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8"/>
          <p:cNvSpPr txBox="1"/>
          <p:nvPr>
            <p:ph type="title"/>
          </p:nvPr>
        </p:nvSpPr>
        <p:spPr>
          <a:xfrm>
            <a:off x="47313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Frontend-розробник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database-designed-project · GitHub Topics · GitHub" id="125" name="Google Shape;1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432" y="1211766"/>
            <a:ext cx="3801238" cy="2719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 txBox="1"/>
          <p:nvPr/>
        </p:nvSpPr>
        <p:spPr>
          <a:xfrm>
            <a:off x="353432" y="4310999"/>
            <a:ext cx="29179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uk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Проектування бази даних</a:t>
            </a:r>
            <a:endParaRPr/>
          </a:p>
        </p:txBody>
      </p:sp>
      <p:pic>
        <p:nvPicPr>
          <p:cNvPr descr="CRM Software Examples: Why Your Team Needs This Tool" id="127" name="Google Shape;1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4266" y="1211766"/>
            <a:ext cx="4365379" cy="2719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 txBox="1"/>
          <p:nvPr/>
        </p:nvSpPr>
        <p:spPr>
          <a:xfrm>
            <a:off x="4832900" y="4285938"/>
            <a:ext cx="362836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uk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Створення інтерфейсу для введення даних у базу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/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Backend-розробник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9"/>
          <p:cNvSpPr txBox="1"/>
          <p:nvPr>
            <p:ph type="title"/>
          </p:nvPr>
        </p:nvSpPr>
        <p:spPr>
          <a:xfrm>
            <a:off x="47313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Frontend-розробник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347268" y="4237199"/>
            <a:ext cx="377767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Робота над функціонуванням системи для створення та проведення платежів (передачею, отриманням інформації від користувача та різних платіжних систем).</a:t>
            </a:r>
            <a:endParaRPr/>
          </a:p>
        </p:txBody>
      </p:sp>
      <p:sp>
        <p:nvSpPr>
          <p:cNvPr id="137" name="Google Shape;137;p9"/>
          <p:cNvSpPr txBox="1"/>
          <p:nvPr/>
        </p:nvSpPr>
        <p:spPr>
          <a:xfrm>
            <a:off x="4748716" y="4299100"/>
            <a:ext cx="35799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Розробка інтерфейсу для створення та проведення платежів.</a:t>
            </a:r>
            <a:endParaRPr/>
          </a:p>
        </p:txBody>
      </p:sp>
      <p:pic>
        <p:nvPicPr>
          <p:cNvPr id="138" name="Google Shape;13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268" y="832500"/>
            <a:ext cx="3783839" cy="3329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n on Платежная система" id="139" name="Google Shape;13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3302" y="832500"/>
            <a:ext cx="4398555" cy="3298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5892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таке сервер?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311700" y="1675578"/>
            <a:ext cx="4582175" cy="2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85236"/>
              <a:buNone/>
            </a:pPr>
            <a:r>
              <a:rPr b="1" lang="uk" sz="2283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Сервер — </a:t>
            </a:r>
            <a:r>
              <a:rPr lang="uk" sz="22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 спеціальний комп'ютер, під'єднаний до мережі, до завдань якого входить зберігання даних, а також їх передача за запитом користувача.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7"/>
              <a:buNone/>
            </a:pPr>
            <a:r>
              <a:t/>
            </a:r>
            <a:endParaRPr/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5801" y="834757"/>
            <a:ext cx="4234949" cy="3023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таке домен и хостинг?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487200" y="2962325"/>
            <a:ext cx="40848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1733"/>
              <a:buNone/>
            </a:pPr>
            <a:r>
              <a:rPr b="1" lang="uk" sz="2283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Домен — </a:t>
            </a:r>
            <a:r>
              <a:rPr lang="uk" sz="22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это уникальное имя, по которому можно обратиться к ресурсу. Иначе говоря, это его уникальный адрес, например, </a:t>
            </a:r>
            <a:r>
              <a:rPr lang="uk" sz="2283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google.com, pixar.com.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6300" y="826500"/>
            <a:ext cx="3490500" cy="34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443600" y="1184225"/>
            <a:ext cx="40848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1733"/>
              <a:buNone/>
            </a:pPr>
            <a:r>
              <a:rPr b="1" lang="uk" sz="2283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Хостинг — </a:t>
            </a:r>
            <a:r>
              <a:rPr lang="uk" sz="22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 послуга, яка дає змогу зберігати дані сайту і на постійній основі надавати користувачам інтернету доступ до нього.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6375" r="10290" t="0"/>
          <a:stretch/>
        </p:blipFill>
        <p:spPr>
          <a:xfrm>
            <a:off x="234900" y="1915338"/>
            <a:ext cx="4424274" cy="2758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1267500" y="311675"/>
            <a:ext cx="6609000" cy="1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uk" sz="2483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HTML </a:t>
            </a:r>
            <a:br>
              <a:rPr b="1" lang="uk" sz="2483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HyperText Markup Language – </a:t>
            </a:r>
            <a:br>
              <a:rPr lang="uk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мова розмітки гіпертексту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399" y="1928350"/>
            <a:ext cx="4267202" cy="27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>
            <p:ph type="title"/>
          </p:nvPr>
        </p:nvSpPr>
        <p:spPr>
          <a:xfrm>
            <a:off x="311700" y="445025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таке теги?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3"/>
          <p:cNvSpPr txBox="1"/>
          <p:nvPr>
            <p:ph idx="1" type="body"/>
          </p:nvPr>
        </p:nvSpPr>
        <p:spPr>
          <a:xfrm>
            <a:off x="443600" y="1184225"/>
            <a:ext cx="40848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1733"/>
              <a:buNone/>
            </a:pPr>
            <a:r>
              <a:rPr b="1" lang="uk" sz="2283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Теги — </a:t>
            </a:r>
            <a:r>
              <a:rPr lang="uk" sz="22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 спеціальні слова, які дають змогу відобразити на сторінці будь-який контент (текст, зображення, відео-ролики).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8400" y="1017725"/>
            <a:ext cx="4265825" cy="27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4"/>
          <p:cNvSpPr txBox="1"/>
          <p:nvPr>
            <p:ph idx="1" type="body"/>
          </p:nvPr>
        </p:nvSpPr>
        <p:spPr>
          <a:xfrm>
            <a:off x="4725650" y="69082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 самому початку файлу вказується </a:t>
            </a:r>
            <a:r>
              <a:rPr b="1" lang="uk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&lt;!DOCTYPE html&gt;</a:t>
            </a: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Це не тег, а інструкція браузеру про те, яку версію HTML було використано для написання сторінки. У цьому випадку – це HTML5.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Далі знаходиться тег </a:t>
            </a:r>
            <a:r>
              <a:rPr b="1" lang="uk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&lt;html&gt;</a:t>
            </a: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в якому зберігається весь вміст сторінки.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Усередині тега </a:t>
            </a:r>
            <a:r>
              <a:rPr b="1" lang="uk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&lt;head&gt; </a:t>
            </a: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міститься вся необхідна браузеру інформація для роботи з документом. Вміст цього тега на сторінці не відображається.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Усередині </a:t>
            </a:r>
            <a:r>
              <a:rPr b="1" lang="uk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&lt;body&gt; </a:t>
            </a:r>
            <a:r>
              <a:rPr lang="uk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міститиметься те, що в результаті відобразиться на сторінці.</a:t>
            </a:r>
            <a:endParaRPr/>
          </a:p>
        </p:txBody>
      </p:sp>
      <p:sp>
        <p:nvSpPr>
          <p:cNvPr id="178" name="Google Shape;178;p14"/>
          <p:cNvSpPr txBox="1"/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Структура вебсторінки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927" y="778000"/>
            <a:ext cx="3036700" cy="266115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>
            <p:ph idx="1" type="body"/>
          </p:nvPr>
        </p:nvSpPr>
        <p:spPr>
          <a:xfrm>
            <a:off x="4662975" y="477750"/>
            <a:ext cx="4333800" cy="44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1578"/>
              <a:buNone/>
            </a:pPr>
            <a:r>
              <a:rPr b="1" lang="uk" sz="1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Атрибути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призначені для надання додаткової інформації про елемент. Їх завжди вказують усередині тега, що відкриває, і вони мають таку структуру запису: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1578"/>
              <a:buNone/>
            </a:pPr>
            <a:r>
              <a:rPr b="1" lang="uk" sz="1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&lt;тег атрибут_тега="значення_атрибута"&gt;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b="1" lang="uk" sz="1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charset="utf-8"&gt;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для розпізнавання інтерпретатором кодування вебсторінки.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b="1" lang="uk" sz="1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name="viewport" content="width=device-width, initial-scale=1"&gt;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щоб сайт коректно відображався на різних пристроях.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b="1" lang="uk" sz="1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name="description" content="Incredibles 2"&gt;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опис сторінки.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b="1" lang="uk" sz="1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name="keywords" content="Incredibles, superhero, pixar"&gt;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ключові слова, які допомагають користувачам знайти ваш сайт у мережі після запиту.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578"/>
              <a:buNone/>
            </a:pPr>
            <a:r>
              <a:rPr b="1" lang="uk" sz="1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&lt;meta name="author" content="Alex"&gt;</a:t>
            </a:r>
            <a:r>
              <a:rPr b="1"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uk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вказування автора документа.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13017"/>
              <a:buNone/>
            </a:pPr>
            <a:r>
              <a:t/>
            </a:r>
            <a:endParaRPr b="1" sz="1352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261818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5"/>
          <p:cNvSpPr txBox="1"/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Атрибути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13" y="906000"/>
            <a:ext cx="4333875" cy="28956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4621100" y="863489"/>
            <a:ext cx="4696178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uk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&lt;title&gt;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заголовок вебсторінки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uk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&lt;h1&gt;,&lt;h2&gt;,&lt;h3&gt;,&lt;h4&gt;,&lt;h5&gt;,&lt;h6&gt;</a:t>
            </a:r>
            <a:r>
              <a:rPr b="1"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заголовки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uk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&lt;p&gt; 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тег абзацу, параграфу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uk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&lt;b&gt;,&lt;i&gt; 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напівжирний шрифт і курсив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uk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&lt;hr&gt;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розділювач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uk" sz="1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&lt;br&gt; </a:t>
            </a:r>
            <a:r>
              <a:rPr lang="uk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перенесення тексту на наступний рядок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52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6"/>
          <p:cNvSpPr txBox="1"/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Приклад простої сторінки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363" y="1078914"/>
            <a:ext cx="4136375" cy="2985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>
            <p:ph type="title"/>
          </p:nvPr>
        </p:nvSpPr>
        <p:spPr>
          <a:xfrm>
            <a:off x="311700" y="445025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Закріпимо вивчений матеріал: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7"/>
          <p:cNvSpPr txBox="1"/>
          <p:nvPr>
            <p:ph idx="1" type="body"/>
          </p:nvPr>
        </p:nvSpPr>
        <p:spPr>
          <a:xfrm>
            <a:off x="487200" y="1073625"/>
            <a:ext cx="4084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-300539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Чим займається веброзробник?</a:t>
            </a:r>
            <a:endParaRPr/>
          </a:p>
          <a:p>
            <a:pPr indent="-300539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Чим відрізняється Frontend-розробка від Backend-розробки?</a:t>
            </a:r>
            <a:endParaRPr/>
          </a:p>
          <a:p>
            <a:pPr indent="-300539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Що таке домен і хостинг?</a:t>
            </a:r>
            <a:endParaRPr/>
          </a:p>
          <a:p>
            <a:pPr indent="-300539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Що таке HTML?</a:t>
            </a:r>
            <a:endParaRPr/>
          </a:p>
          <a:p>
            <a:pPr indent="-300539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Що таке тег? Які бувають теги? Які правила запису тегів існують?</a:t>
            </a:r>
            <a:endParaRPr/>
          </a:p>
          <a:p>
            <a:pPr indent="-300539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Які теги запам'ятали і що вони означають?</a:t>
            </a:r>
            <a:endParaRPr/>
          </a:p>
          <a:p>
            <a:pPr indent="-300539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➔"/>
            </a:pPr>
            <a:r>
              <a:rPr lang="uk" sz="348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Що таке атрибут тега? З атрибутами якого тега ми сьогодні познайомилися?</a:t>
            </a:r>
            <a:endParaRPr/>
          </a:p>
        </p:txBody>
      </p:sp>
      <p:pic>
        <p:nvPicPr>
          <p:cNvPr id="203" name="Google Shape;2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7475" y="897125"/>
            <a:ext cx="3232775" cy="32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22c6bf639a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2c6bf639ac_0_0"/>
          <p:cNvSpPr txBox="1"/>
          <p:nvPr>
            <p:ph type="title"/>
          </p:nvPr>
        </p:nvSpPr>
        <p:spPr>
          <a:xfrm>
            <a:off x="311700" y="445025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162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Домашнє завдання</a:t>
            </a:r>
            <a:endParaRPr b="1" sz="162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22c6bf639ac_0_0"/>
          <p:cNvSpPr txBox="1"/>
          <p:nvPr>
            <p:ph idx="1" type="body"/>
          </p:nvPr>
        </p:nvSpPr>
        <p:spPr>
          <a:xfrm>
            <a:off x="311700" y="1095725"/>
            <a:ext cx="3982200" cy="26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uk" sz="13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 коді до домашнього завдання наведено HTML-документ. Усередині тега &lt;p&gt; міститься опис мультфільму Monsters University.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394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uk" sz="139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Внесіть зміни в код, дотримуючись інструкції.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01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1" name="Google Shape;211;g22c6bf639a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3900" y="585625"/>
            <a:ext cx="4468850" cy="399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Анна</dc:creator>
</cp:coreProperties>
</file>