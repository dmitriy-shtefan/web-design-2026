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Black" panose="02000000000000000000" pitchFamily="2" charset="0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ToSo90tObhiTFn7nCz4iMi9a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75" d="100"/>
          <a:sy n="175" d="100"/>
        </p:scale>
        <p:origin x="344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c7558df0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2c7558df0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c7558df0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2c7558df0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7558df0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22c7558df0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c7558df0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22c7558df0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c7558df0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2c7558df0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c7558df0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2c7558df0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c7558df0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2c7558df0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c7558df01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2c7558df01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9f98e6fe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09f98e6fe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c7558df0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2c7558df0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c7558df0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2c7558df01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2c7558df0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22c7558df01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c7558df01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22c7558df01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c7558df0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2c7558df01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c7558df0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2c7558df0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c7558df01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2c7558df01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c7558df0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22c7558df0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2c7558df01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2c7558df01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c58f833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2c58f833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1081200" y="2271525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3180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3180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2588" y="436100"/>
            <a:ext cx="1017575" cy="10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6">
            <a:alphaModFix/>
          </a:blip>
          <a:srcRect t="24493" b="20847"/>
          <a:stretch/>
        </p:blipFill>
        <p:spPr>
          <a:xfrm>
            <a:off x="3503050" y="3317025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61111"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</a:t>
            </a: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використовували </a:t>
            </a: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веброзробники</a:t>
            </a:r>
            <a:b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структурування інформації на сайті</a:t>
            </a: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7050" y="1337300"/>
            <a:ext cx="6011601" cy="3503926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22c7558df01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2c7558df01_0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61111"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використовували веброзробники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структурування інформації на сайті?</a:t>
            </a:r>
          </a:p>
        </p:txBody>
      </p:sp>
      <p:pic>
        <p:nvPicPr>
          <p:cNvPr id="72" name="Google Shape;72;g22c7558df0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050" y="1144975"/>
            <a:ext cx="6015500" cy="3642249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22c7558df01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22c7558df01_0_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використовували веброзробники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структурування інформації на сайті?</a:t>
            </a:r>
          </a:p>
        </p:txBody>
      </p:sp>
      <p:pic>
        <p:nvPicPr>
          <p:cNvPr id="79" name="Google Shape;79;g22c7558df01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00" y="1205300"/>
            <a:ext cx="8292800" cy="37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22c7558df01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22c7558df01_0_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використано в наступних прикладах 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поліпшення візуального сприйняття сторінки</a:t>
            </a: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g22c7558df01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325" y="1194199"/>
            <a:ext cx="8343352" cy="36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2c7558df01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2c7558df01_0_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використано в наступних прикладах </a:t>
            </a:r>
            <a:b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для поліпшення візуального сприйняття сторінки?</a:t>
            </a:r>
          </a:p>
        </p:txBody>
      </p:sp>
      <p:pic>
        <p:nvPicPr>
          <p:cNvPr id="93" name="Google Shape;93;g22c7558df01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50" y="1346299"/>
            <a:ext cx="8155679" cy="35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>
            <a:spLocks noGrp="1"/>
          </p:cNvSpPr>
          <p:nvPr>
            <p:ph type="ctrTitle"/>
          </p:nvPr>
        </p:nvSpPr>
        <p:spPr>
          <a:xfrm>
            <a:off x="311700" y="2422650"/>
            <a:ext cx="8520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92592"/>
              <a:buNone/>
            </a:pPr>
            <a: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Урок 3.</a:t>
            </a:r>
            <a:b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</a:br>
            <a:r>
              <a:rPr lang="uk" sz="3000" dirty="0">
                <a:solidFill>
                  <a:srgbClr val="3C78D8"/>
                </a:solidFill>
                <a:highlight>
                  <a:srgbClr val="FFFFFF"/>
                </a:highlight>
                <a:latin typeface="Roboto Black"/>
                <a:ea typeface="Roboto Black"/>
                <a:cs typeface="Roboto Black"/>
                <a:sym typeface="Roboto Black"/>
              </a:rPr>
              <a:t>Списки. Зображення</a:t>
            </a:r>
            <a:endParaRPr dirty="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1" name="Google Shape;101;p5"/>
          <p:cNvSpPr txBox="1">
            <a:spLocks noGrp="1"/>
          </p:cNvSpPr>
          <p:nvPr>
            <p:ph type="subTitle" idx="1"/>
          </p:nvPr>
        </p:nvSpPr>
        <p:spPr>
          <a:xfrm>
            <a:off x="1081200" y="1532300"/>
            <a:ext cx="6981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Вебдизайн – Junior </a:t>
            </a:r>
            <a:b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uk" sz="1979" b="1" dirty="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(HTML &amp; CSS)</a:t>
            </a:r>
            <a:endParaRPr sz="1979" b="1" dirty="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36399" y="423675"/>
            <a:ext cx="671200" cy="6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/>
          <p:cNvPicPr preferRelativeResize="0"/>
          <p:nvPr/>
        </p:nvPicPr>
        <p:blipFill rotWithShape="1">
          <a:blip r:embed="rId6">
            <a:alphaModFix/>
          </a:blip>
          <a:srcRect t="24493" b="20847"/>
          <a:stretch/>
        </p:blipFill>
        <p:spPr>
          <a:xfrm>
            <a:off x="3403650" y="3545800"/>
            <a:ext cx="2336676" cy="1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познайомитися з поняттям "список", а також його видами;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навчитися створювати марковані та нумеровані списки;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навчитися створювати навігаційне меню на основі маркованих списків;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вивчити основи роботи із зображеннями: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➔"/>
            </a:pPr>
            <a:r>
              <a:rPr lang="uk-UA" sz="1400" dirty="0">
                <a:solidFill>
                  <a:schemeClr val="dk1"/>
                </a:solidFill>
              </a:rPr>
              <a:t>задавати стилі, налаштовувати відступи, поля, оформляти їх особливим чином.</a:t>
            </a:r>
          </a:p>
        </p:txBody>
      </p:sp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45720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Наші завдання на заняття:</a:t>
            </a: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750" y="885800"/>
            <a:ext cx="4210764" cy="33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Приклади списків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75" y="1017725"/>
            <a:ext cx="3286125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050" y="1017725"/>
            <a:ext cx="43815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>
            <a:spLocks noGrp="1"/>
          </p:cNvSpPr>
          <p:nvPr>
            <p:ph type="body" idx="1"/>
          </p:nvPr>
        </p:nvSpPr>
        <p:spPr>
          <a:xfrm>
            <a:off x="4747775" y="1951250"/>
            <a:ext cx="4260300" cy="2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5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Список</a:t>
            </a:r>
            <a:r>
              <a:rPr lang="uk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uk-UA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письмове перерахування будь-яких об'єктів</a:t>
            </a:r>
            <a:r>
              <a:rPr lang="uk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Що таке список?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00" y="1193625"/>
            <a:ext cx="4132352" cy="27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22c7558df01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2c7558df01_0_34"/>
          <p:cNvSpPr txBox="1">
            <a:spLocks noGrp="1"/>
          </p:cNvSpPr>
          <p:nvPr>
            <p:ph type="body" idx="1"/>
          </p:nvPr>
        </p:nvSpPr>
        <p:spPr>
          <a:xfrm>
            <a:off x="1044975" y="4624200"/>
            <a:ext cx="21801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</a:pPr>
            <a:r>
              <a:rPr lang="uk" sz="155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Маркований</a:t>
            </a:r>
            <a:endParaRPr sz="141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22c7558df01_0_3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Види списків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g22c7558df0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875" y="1583850"/>
            <a:ext cx="2498275" cy="151304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2c7558df01_0_34"/>
          <p:cNvSpPr txBox="1">
            <a:spLocks noGrp="1"/>
          </p:cNvSpPr>
          <p:nvPr>
            <p:ph type="body" idx="1"/>
          </p:nvPr>
        </p:nvSpPr>
        <p:spPr>
          <a:xfrm>
            <a:off x="5810100" y="4624200"/>
            <a:ext cx="21801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</a:pPr>
            <a:r>
              <a:rPr lang="uk" sz="155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Нумерований</a:t>
            </a:r>
            <a:endParaRPr sz="15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</a:pPr>
            <a:endParaRPr sz="141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g22c7558df01_0_34"/>
          <p:cNvPicPr preferRelativeResize="0"/>
          <p:nvPr/>
        </p:nvPicPr>
        <p:blipFill rotWithShape="1">
          <a:blip r:embed="rId5">
            <a:alphaModFix/>
          </a:blip>
          <a:srcRect r="19087"/>
          <a:stretch/>
        </p:blipFill>
        <p:spPr>
          <a:xfrm>
            <a:off x="4883700" y="1236650"/>
            <a:ext cx="3446999" cy="22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2c7558df01_0_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2c7558df01_0_45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Створимо маркований список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g22c7558df01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50" y="832499"/>
            <a:ext cx="2436325" cy="101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2c7558df01_0_45"/>
          <p:cNvSpPr txBox="1">
            <a:spLocks noGrp="1"/>
          </p:cNvSpPr>
          <p:nvPr>
            <p:ph type="body" idx="1"/>
          </p:nvPr>
        </p:nvSpPr>
        <p:spPr>
          <a:xfrm>
            <a:off x="4758825" y="832500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 dirty="0">
                <a:solidFill>
                  <a:schemeClr val="dk1"/>
                </a:solidFill>
              </a:rPr>
              <a:t>Щоб створити маркований список, використовуємо </a:t>
            </a:r>
            <a:r>
              <a:rPr lang="ru-RU" sz="1300" dirty="0">
                <a:solidFill>
                  <a:schemeClr val="dk1"/>
                </a:solidFill>
              </a:rPr>
              <a:t>тег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ul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Кожен елемент списку створюється за допомогою чергового тегу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li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Кожен новий тег – це елемент списку.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 аналогією з іншими тегами, для списку можна задати стилі, тим самим надавши йому привабливішого вигляду.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Наприклад, можна задати колір фону або ж встановити маркер для </a:t>
            </a:r>
            <a:r>
              <a:rPr lang="ru-RU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ul</a:t>
            </a:r>
            <a:r>
              <a:rPr lang="ru-RU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Маркер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uk-UA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 позначення кожного нового елемента списку.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Його можна або взагалі прибрати </a:t>
            </a: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list-style:none, 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або вибрати один із варіантів: </a:t>
            </a:r>
            <a:r>
              <a:rPr lang="uk" sz="13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circle, disc, square</a:t>
            </a:r>
            <a:r>
              <a:rPr lang="uk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22c7558df01_0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750" y="2038000"/>
            <a:ext cx="2436324" cy="190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2c7558df01_0_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49" y="4129250"/>
            <a:ext cx="3779400" cy="7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c7558df01_0_74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Стилі маркованих списків (list-style):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g22c7558df01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50" y="1110025"/>
            <a:ext cx="3924963" cy="1564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2c7558df01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103" y="1115216"/>
            <a:ext cx="3513848" cy="145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2c7558df01_0_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34" y="3173964"/>
            <a:ext cx="3506920" cy="141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2c7558df01_0_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1643" y="3138314"/>
            <a:ext cx="3234848" cy="145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22c7558df01_0_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2c7558df01_0_110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-UA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Створимо нумерований список</a:t>
            </a:r>
          </a:p>
        </p:txBody>
      </p:sp>
      <p:sp>
        <p:nvSpPr>
          <p:cNvPr id="163" name="Google Shape;163;g22c7558df01_0_110"/>
          <p:cNvSpPr txBox="1">
            <a:spLocks noGrp="1"/>
          </p:cNvSpPr>
          <p:nvPr>
            <p:ph type="body" idx="1"/>
          </p:nvPr>
        </p:nvSpPr>
        <p:spPr>
          <a:xfrm>
            <a:off x="4758825" y="832500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 аналогією з маркованими можна створювати нумеровані списки. Щоб задати такий список, потрібен тег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ol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, </a:t>
            </a:r>
            <a:r>
              <a:rPr lang="uk-UA" sz="1300" dirty="0">
                <a:solidFill>
                  <a:schemeClr val="dk1"/>
                </a:solidFill>
              </a:rPr>
              <a:t>а кожен новий елемент списку слід виділяти за допомогою  </a:t>
            </a:r>
            <a:r>
              <a:rPr lang="ru-RU" sz="1300" b="1" dirty="0">
                <a:solidFill>
                  <a:schemeClr val="accent1"/>
                </a:solidFill>
              </a:rPr>
              <a:t>&lt;</a:t>
            </a:r>
            <a:r>
              <a:rPr lang="ru-RU" sz="1300" b="1" dirty="0" err="1">
                <a:solidFill>
                  <a:schemeClr val="accent1"/>
                </a:solidFill>
              </a:rPr>
              <a:t>li</a:t>
            </a:r>
            <a:r>
              <a:rPr lang="ru-RU" sz="1300" b="1" dirty="0">
                <a:solidFill>
                  <a:schemeClr val="accent1"/>
                </a:solidFill>
              </a:rPr>
              <a:t>&gt;</a:t>
            </a:r>
            <a:r>
              <a:rPr lang="ru-RU" sz="1300" dirty="0">
                <a:solidFill>
                  <a:schemeClr val="dk1"/>
                </a:solidFill>
              </a:rPr>
              <a:t>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Є низка можливих стилів, які можна задати для позначення нумерації. Це може бути арабська чи римська нумерація, також є можливість задати літери латинського алфавіту у верхньому або нижньому регістрі.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 замовчуванням стиль нумерації </a:t>
            </a:r>
            <a:r>
              <a:rPr lang="ru-RU" sz="1300" dirty="0">
                <a:solidFill>
                  <a:schemeClr val="dk1"/>
                </a:solidFill>
              </a:rPr>
              <a:t>– </a:t>
            </a:r>
            <a:r>
              <a:rPr lang="en-US" sz="1300" dirty="0">
                <a:solidFill>
                  <a:schemeClr val="dk1"/>
                </a:solidFill>
              </a:rPr>
              <a:t>decimal (</a:t>
            </a:r>
            <a:r>
              <a:rPr lang="uk-UA" sz="1300" dirty="0">
                <a:solidFill>
                  <a:schemeClr val="dk1"/>
                </a:solidFill>
              </a:rPr>
              <a:t>арабські цифри</a:t>
            </a:r>
            <a:r>
              <a:rPr lang="ru-RU" sz="1300" dirty="0">
                <a:solidFill>
                  <a:schemeClr val="dk1"/>
                </a:solidFill>
              </a:rPr>
              <a:t>). 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164" name="Google Shape;164;g22c7558df01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50" y="756300"/>
            <a:ext cx="1953700" cy="1144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22c7558df01_0_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744" y="2014682"/>
            <a:ext cx="1953700" cy="204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2c7558df01_0_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50" y="4169150"/>
            <a:ext cx="3790716" cy="7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09f98e6fe9_0_56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Стилі нумерованих списків (list-style):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g209f98e6fe9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00" y="1025174"/>
            <a:ext cx="3508910" cy="1059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09f98e6fe9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181" y="1025179"/>
            <a:ext cx="3770069" cy="1092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09f98e6fe9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600" y="2282654"/>
            <a:ext cx="3783462" cy="1097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09f98e6fe9_0_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6123" y="2293642"/>
            <a:ext cx="3381678" cy="107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09f98e6fe9_0_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7103" y="3506370"/>
            <a:ext cx="2804883" cy="1075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09f98e6fe9_0_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6684" y="3460668"/>
            <a:ext cx="2898824" cy="1167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22c7558df01_0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2c7558df01_0_134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22c7558df01_0_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350" y="699774"/>
            <a:ext cx="4861801" cy="423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22c7558df01_0_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2c7558df01_0_142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g22c7558df01_0_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125" y="699775"/>
            <a:ext cx="5608075" cy="420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22c7558df01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2c7558df01_0_149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g22c7558df01_0_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25" y="883645"/>
            <a:ext cx="3232426" cy="11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2c7558df01_0_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425" y="2372645"/>
            <a:ext cx="1515547" cy="9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22c7558df01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425" y="3603525"/>
            <a:ext cx="1794425" cy="9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857075"/>
            <a:ext cx="42603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300" dirty="0">
                <a:solidFill>
                  <a:schemeClr val="dk1"/>
                </a:solidFill>
              </a:rPr>
              <a:t>Створюємо маркований список.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202" name="Google Shape;202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2362825"/>
            <a:ext cx="42603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-UA" sz="1300" dirty="0">
                <a:solidFill>
                  <a:schemeClr val="dk1"/>
                </a:solidFill>
              </a:rPr>
              <a:t>Задамо відступи і поля для елементів.</a:t>
            </a:r>
          </a:p>
        </p:txBody>
      </p:sp>
      <p:sp>
        <p:nvSpPr>
          <p:cNvPr id="203" name="Google Shape;203;g22c7558df01_0_149"/>
          <p:cNvSpPr txBox="1">
            <a:spLocks noGrp="1"/>
          </p:cNvSpPr>
          <p:nvPr>
            <p:ph type="body" idx="1"/>
          </p:nvPr>
        </p:nvSpPr>
        <p:spPr>
          <a:xfrm>
            <a:off x="4769875" y="3529981"/>
            <a:ext cx="4260300" cy="1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 dirty="0">
                <a:solidFill>
                  <a:schemeClr val="dk1"/>
                </a:solidFill>
              </a:rPr>
              <a:t>Встановимо властивість, щоб не відображалися маркери. Також </a:t>
            </a:r>
            <a:r>
              <a:rPr lang="uk-UA" sz="1300" dirty="0" err="1">
                <a:solidFill>
                  <a:schemeClr val="dk1"/>
                </a:solidFill>
              </a:rPr>
              <a:t>задамо</a:t>
            </a:r>
            <a:r>
              <a:rPr lang="uk-UA" sz="1300" dirty="0">
                <a:solidFill>
                  <a:schemeClr val="dk1"/>
                </a:solidFill>
              </a:rPr>
              <a:t> ширину 100%, щоб меню займало всю ширину екрана. У результаті меню виглядатиме як звичайний список, тільки у вигляді посилань.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22c7558df01_0_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2c7558df01_0_163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меню навігації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2c7558df01_0_163"/>
          <p:cNvSpPr txBox="1">
            <a:spLocks noGrp="1"/>
          </p:cNvSpPr>
          <p:nvPr>
            <p:ph type="body" idx="1"/>
          </p:nvPr>
        </p:nvSpPr>
        <p:spPr>
          <a:xfrm>
            <a:off x="4670075" y="742225"/>
            <a:ext cx="43602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 dirty="0">
                <a:solidFill>
                  <a:schemeClr val="dk1"/>
                </a:solidFill>
              </a:rPr>
              <a:t>Оскільки меню ви робите горизонтальне, посилання варто розмістити в ряд. У цьому допоможе властивість </a:t>
            </a:r>
            <a:r>
              <a:rPr lang="en-US" sz="1300" b="1" dirty="0">
                <a:solidFill>
                  <a:schemeClr val="accent1"/>
                </a:solidFill>
              </a:rPr>
              <a:t>float</a:t>
            </a:r>
            <a:r>
              <a:rPr lang="uk-UA" sz="1300" b="1" dirty="0">
                <a:solidFill>
                  <a:schemeClr val="accent1"/>
                </a:solidFill>
              </a:rPr>
              <a:t>: </a:t>
            </a:r>
            <a:r>
              <a:rPr lang="en-US" sz="1300" b="1" dirty="0">
                <a:solidFill>
                  <a:schemeClr val="accent1"/>
                </a:solidFill>
              </a:rPr>
              <a:t>left</a:t>
            </a:r>
            <a:r>
              <a:rPr lang="uk-UA" sz="1300" dirty="0">
                <a:solidFill>
                  <a:schemeClr val="dk1"/>
                </a:solidFill>
              </a:rPr>
              <a:t> — елементи будуть розташовані по лівому краю. Ширина буде задана автоматично.</a:t>
            </a:r>
          </a:p>
        </p:txBody>
      </p:sp>
      <p:sp>
        <p:nvSpPr>
          <p:cNvPr id="211" name="Google Shape;211;g22c7558df01_0_163"/>
          <p:cNvSpPr txBox="1">
            <a:spLocks noGrp="1"/>
          </p:cNvSpPr>
          <p:nvPr>
            <p:ph type="body" idx="1"/>
          </p:nvPr>
        </p:nvSpPr>
        <p:spPr>
          <a:xfrm>
            <a:off x="4670075" y="2141675"/>
            <a:ext cx="44046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300" dirty="0">
                <a:solidFill>
                  <a:schemeClr val="dk1"/>
                </a:solidFill>
              </a:rPr>
              <a:t>Нехай меню буде блакитного кольору — </a:t>
            </a:r>
            <a:r>
              <a:rPr lang="uk" sz="1300" b="1" dirty="0">
                <a:solidFill>
                  <a:schemeClr val="accent1"/>
                </a:solidFill>
              </a:rPr>
              <a:t>background: #30A6E6</a:t>
            </a:r>
            <a:r>
              <a:rPr lang="uk" sz="1300" dirty="0">
                <a:solidFill>
                  <a:schemeClr val="dk1"/>
                </a:solidFill>
              </a:rPr>
              <a:t>, колір тексту зробимо білим — </a:t>
            </a:r>
            <a:r>
              <a:rPr lang="uk" sz="1300" b="1" dirty="0">
                <a:solidFill>
                  <a:schemeClr val="accent1"/>
                </a:solidFill>
              </a:rPr>
              <a:t>color: #FFFFFF</a:t>
            </a:r>
            <a:r>
              <a:rPr lang="uk" sz="1300" dirty="0">
                <a:solidFill>
                  <a:schemeClr val="accent1"/>
                </a:solidFill>
              </a:rPr>
              <a:t>.</a:t>
            </a:r>
            <a:endParaRPr sz="1300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</a:rPr>
              <a:t>Наше </a:t>
            </a:r>
            <a:r>
              <a:rPr lang="uk-UA" sz="1300" dirty="0">
                <a:solidFill>
                  <a:schemeClr val="dk1"/>
                </a:solidFill>
              </a:rPr>
              <a:t>завдання</a:t>
            </a:r>
            <a:r>
              <a:rPr lang="uk" sz="1300" dirty="0">
                <a:solidFill>
                  <a:schemeClr val="dk1"/>
                </a:solidFill>
              </a:rPr>
              <a:t> —</a:t>
            </a:r>
            <a:r>
              <a:rPr lang="ru-RU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зробити так, щоб, незалежно від довжини </a:t>
            </a:r>
            <a:r>
              <a:rPr lang="ru-RU" sz="1300" dirty="0">
                <a:solidFill>
                  <a:schemeClr val="dk1"/>
                </a:solidFill>
              </a:rPr>
              <a:t>тексту (</a:t>
            </a:r>
            <a:r>
              <a:rPr lang="en-US" sz="1300" dirty="0">
                <a:solidFill>
                  <a:schemeClr val="dk1"/>
                </a:solidFill>
              </a:rPr>
              <a:t>Home, Contacts), </a:t>
            </a:r>
            <a:r>
              <a:rPr lang="uk-UA" sz="1300" dirty="0">
                <a:solidFill>
                  <a:schemeClr val="dk1"/>
                </a:solidFill>
              </a:rPr>
              <a:t>він займав весь простір. </a:t>
            </a:r>
            <a:r>
              <a:rPr lang="ru-RU" sz="1300" dirty="0">
                <a:solidFill>
                  <a:schemeClr val="dk1"/>
                </a:solidFill>
              </a:rPr>
              <a:t>Атрибут </a:t>
            </a:r>
            <a:r>
              <a:rPr lang="en-US" sz="1300" b="1" dirty="0">
                <a:solidFill>
                  <a:schemeClr val="accent1"/>
                </a:solidFill>
              </a:rPr>
              <a:t>display: block </a:t>
            </a:r>
            <a:r>
              <a:rPr lang="uk-UA" sz="1300" dirty="0">
                <a:solidFill>
                  <a:schemeClr val="dk1"/>
                </a:solidFill>
              </a:rPr>
              <a:t>дає змогу встановити такого типу властивість.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300" dirty="0">
                <a:solidFill>
                  <a:schemeClr val="dk1"/>
                </a:solidFill>
              </a:rPr>
              <a:t>Для шрифта задамо атрибут з такими властивостями: </a:t>
            </a:r>
            <a:r>
              <a:rPr lang="uk" sz="1300" b="1" dirty="0">
                <a:solidFill>
                  <a:schemeClr val="accent1"/>
                </a:solidFill>
              </a:rPr>
              <a:t>font: bold 13px sans-serif</a:t>
            </a:r>
            <a:r>
              <a:rPr lang="uk" sz="1300" dirty="0">
                <a:solidFill>
                  <a:schemeClr val="dk1"/>
                </a:solidFill>
              </a:rPr>
              <a:t>. </a:t>
            </a:r>
            <a:r>
              <a:rPr lang="uk-UA" sz="1300" dirty="0">
                <a:solidFill>
                  <a:schemeClr val="dk1"/>
                </a:solidFill>
              </a:rPr>
              <a:t>У результаті ми отримаємо жирне накреслення </a:t>
            </a:r>
            <a:r>
              <a:rPr lang="ru-RU" sz="1300" dirty="0">
                <a:solidFill>
                  <a:schemeClr val="dk1"/>
                </a:solidFill>
              </a:rPr>
              <a:t>(</a:t>
            </a:r>
            <a:r>
              <a:rPr lang="en-US" sz="1300" dirty="0">
                <a:solidFill>
                  <a:schemeClr val="dk1"/>
                </a:solidFill>
              </a:rPr>
              <a:t>bold</a:t>
            </a:r>
            <a:r>
              <a:rPr lang="ru-RU" sz="1300" dirty="0">
                <a:solidFill>
                  <a:schemeClr val="dk1"/>
                </a:solidFill>
              </a:rPr>
              <a:t>) </a:t>
            </a:r>
            <a:r>
              <a:rPr lang="uk-UA" sz="1300" dirty="0">
                <a:solidFill>
                  <a:schemeClr val="dk1"/>
                </a:solidFill>
              </a:rPr>
              <a:t>розміром 13px без засічок </a:t>
            </a:r>
            <a:r>
              <a:rPr lang="ru-RU" sz="1300" dirty="0">
                <a:solidFill>
                  <a:schemeClr val="dk1"/>
                </a:solidFill>
              </a:rPr>
              <a:t>(</a:t>
            </a:r>
            <a:r>
              <a:rPr lang="en-US" sz="1300" dirty="0">
                <a:solidFill>
                  <a:schemeClr val="dk1"/>
                </a:solidFill>
              </a:rPr>
              <a:t>sans-serif</a:t>
            </a:r>
            <a:r>
              <a:rPr lang="ru-RU" sz="1300" dirty="0">
                <a:solidFill>
                  <a:schemeClr val="dk1"/>
                </a:solidFill>
              </a:rPr>
              <a:t>). Сам текст </a:t>
            </a:r>
            <a:r>
              <a:rPr lang="uk-UA" sz="1300" dirty="0">
                <a:solidFill>
                  <a:schemeClr val="dk1"/>
                </a:solidFill>
              </a:rPr>
              <a:t>розташуємо в центрі </a:t>
            </a:r>
            <a:r>
              <a:rPr lang="ru-RU" sz="1300" dirty="0">
                <a:solidFill>
                  <a:schemeClr val="dk1"/>
                </a:solidFill>
              </a:rPr>
              <a:t>блоку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" sz="1300" b="1" dirty="0">
                <a:solidFill>
                  <a:schemeClr val="accent1"/>
                </a:solidFill>
              </a:rPr>
              <a:t>text-align: center</a:t>
            </a:r>
            <a:r>
              <a:rPr lang="uk" sz="1300" dirty="0">
                <a:solidFill>
                  <a:schemeClr val="dk1"/>
                </a:solidFill>
              </a:rPr>
              <a:t>, а підкреслення посилань приберемо взагалі </a:t>
            </a:r>
            <a:r>
              <a:rPr lang="uk" sz="1300" b="1" dirty="0">
                <a:solidFill>
                  <a:schemeClr val="accent1"/>
                </a:solidFill>
              </a:rPr>
              <a:t>text-decoration: none.</a:t>
            </a:r>
            <a:endParaRPr sz="1300" b="1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212" name="Google Shape;212;g22c7558df01_0_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25" y="857075"/>
            <a:ext cx="1615550" cy="10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2c7558df01_0_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421" y="2426846"/>
            <a:ext cx="2485700" cy="21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22c7558df01_0_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2c7558df01_0_178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Hover-ефект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g22c7558df01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175" y="1812188"/>
            <a:ext cx="3420574" cy="256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22c7558df01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25" y="1963875"/>
            <a:ext cx="4461675" cy="20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2c7558df01_0_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2c7558df01_0_192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Створюємо hover-ефект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g22c7558df01_0_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675" y="1176375"/>
            <a:ext cx="2429325" cy="9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2c7558df01_0_1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111" y="3026500"/>
            <a:ext cx="392836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2c7558df01_0_192"/>
          <p:cNvSpPr txBox="1">
            <a:spLocks noGrp="1"/>
          </p:cNvSpPr>
          <p:nvPr>
            <p:ph type="body" idx="1"/>
          </p:nvPr>
        </p:nvSpPr>
        <p:spPr>
          <a:xfrm>
            <a:off x="4806175" y="1701800"/>
            <a:ext cx="4260300" cy="11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uk" sz="1400" b="1" dirty="0">
                <a:solidFill>
                  <a:schemeClr val="accent1"/>
                </a:solidFill>
              </a:rPr>
              <a:t>Hover-ефект </a:t>
            </a:r>
            <a:r>
              <a:rPr lang="uk" sz="1400" dirty="0">
                <a:solidFill>
                  <a:schemeClr val="dk1"/>
                </a:solidFill>
              </a:rPr>
              <a:t>– </a:t>
            </a:r>
            <a:r>
              <a:rPr lang="uk-UA" sz="1400" dirty="0">
                <a:solidFill>
                  <a:schemeClr val="dk1"/>
                </a:solidFill>
              </a:rPr>
              <a:t>це технологія вебанімації, завдяки якій елементи сайту змінюють свій вигляд при наведенні на них курсору або кліку по них</a:t>
            </a:r>
            <a:r>
              <a:rPr lang="uk" sz="1400" dirty="0">
                <a:solidFill>
                  <a:schemeClr val="dk1"/>
                </a:solidFill>
              </a:rPr>
              <a:t>.</a:t>
            </a: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22c7558df01_0_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22c7558df01_0_206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Робота із зображеннями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22c7558df01_0_206"/>
          <p:cNvSpPr txBox="1">
            <a:spLocks noGrp="1"/>
          </p:cNvSpPr>
          <p:nvPr>
            <p:ph type="body" idx="1"/>
          </p:nvPr>
        </p:nvSpPr>
        <p:spPr>
          <a:xfrm>
            <a:off x="4720625" y="414375"/>
            <a:ext cx="4360200" cy="4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-UA" sz="1300" dirty="0">
                <a:solidFill>
                  <a:schemeClr val="dk1"/>
                </a:solidFill>
              </a:rPr>
              <a:t>Для додавання зображення на вебсторінку існує спеціальний тег </a:t>
            </a:r>
            <a:r>
              <a:rPr lang="uk" sz="1300" b="1" dirty="0">
                <a:solidFill>
                  <a:schemeClr val="accent1"/>
                </a:solidFill>
              </a:rPr>
              <a:t>&lt;img&gt;</a:t>
            </a:r>
            <a:r>
              <a:rPr lang="uk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src: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 URL-адресу зображення, яке має бути відображено в тезі </a:t>
            </a:r>
            <a:r>
              <a:rPr lang="uk" sz="1300" dirty="0">
                <a:solidFill>
                  <a:schemeClr val="dk1"/>
                </a:solidFill>
              </a:rPr>
              <a:t>&lt;img&gt;.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alt: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вказує альтернативний текст, який відображатиметься замість зображення, якщо його не можна завантажити або воно не відображається в правильному форматі.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width: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встановлює ширину зображення в пікселях або відсотках щодо розмірів батьківського елемента.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" sz="1300" b="1" dirty="0">
                <a:solidFill>
                  <a:schemeClr val="accent1"/>
                </a:solidFill>
              </a:rPr>
              <a:t>draggable:</a:t>
            </a:r>
            <a:r>
              <a:rPr lang="uk" sz="1300" dirty="0">
                <a:solidFill>
                  <a:schemeClr val="dk1"/>
                </a:solidFill>
              </a:rPr>
              <a:t> </a:t>
            </a:r>
            <a:r>
              <a:rPr lang="uk-UA" sz="1300" dirty="0">
                <a:solidFill>
                  <a:schemeClr val="dk1"/>
                </a:solidFill>
              </a:rPr>
              <a:t>визначає, чи може користувач перетягувати зображення за допомогою миші або сенсорного пристрою. У наведеному прикладі зображення не можна перетягувати.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3774D-BC06-37EF-09E1-5D9B57B92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8" y="1545772"/>
            <a:ext cx="4245568" cy="13253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22c7558df01_0_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22c7558df01_0_218"/>
          <p:cNvSpPr txBox="1">
            <a:spLocks noGrp="1"/>
          </p:cNvSpPr>
          <p:nvPr>
            <p:ph type="title"/>
          </p:nvPr>
        </p:nvSpPr>
        <p:spPr>
          <a:xfrm>
            <a:off x="180400" y="259800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Робота із зображеннями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2c7558df01_0_218"/>
          <p:cNvSpPr txBox="1">
            <a:spLocks noGrp="1"/>
          </p:cNvSpPr>
          <p:nvPr>
            <p:ph type="body" idx="1"/>
          </p:nvPr>
        </p:nvSpPr>
        <p:spPr>
          <a:xfrm>
            <a:off x="4703302" y="813850"/>
            <a:ext cx="4360200" cy="18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uk-UA" sz="1300" dirty="0">
                <a:solidFill>
                  <a:schemeClr val="dk1"/>
                </a:solidFill>
              </a:rPr>
              <a:t>Задамо стилі нашій картинці.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ru-RU"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margin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зовнішні відступи для елемента. </a:t>
            </a:r>
            <a:r>
              <a:rPr lang="en-US" sz="1300" b="1" dirty="0">
                <a:solidFill>
                  <a:schemeClr val="dk1"/>
                </a:solidFill>
              </a:rPr>
              <a:t>background-color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колір фону елемента.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border-radius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радіус заокруглення кутів елемента.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box-shadow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задає зображенню тінь.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b="1" dirty="0">
                <a:solidFill>
                  <a:schemeClr val="dk1"/>
                </a:solidFill>
              </a:rPr>
              <a:t>border</a:t>
            </a:r>
            <a:r>
              <a:rPr lang="en-US" sz="1300" dirty="0">
                <a:solidFill>
                  <a:schemeClr val="dk1"/>
                </a:solidFill>
              </a:rPr>
              <a:t>: </a:t>
            </a:r>
            <a:r>
              <a:rPr lang="uk-UA" sz="1300" dirty="0">
                <a:solidFill>
                  <a:schemeClr val="dk1"/>
                </a:solidFill>
              </a:rPr>
              <a:t>визначає межу елемента. </a:t>
            </a:r>
            <a:endParaRPr lang="uk-UA" sz="1300" b="1" dirty="0">
              <a:solidFill>
                <a:schemeClr val="accent1"/>
              </a:solidFill>
            </a:endParaRPr>
          </a:p>
        </p:txBody>
      </p:sp>
      <p:pic>
        <p:nvPicPr>
          <p:cNvPr id="246" name="Google Shape;246;g22c7558df01_0_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875" y="952850"/>
            <a:ext cx="3003649" cy="15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22c7558df01_0_2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75" y="2901275"/>
            <a:ext cx="3210853" cy="18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c7558df01_0_229"/>
          <p:cNvSpPr txBox="1">
            <a:spLocks noGrp="1"/>
          </p:cNvSpPr>
          <p:nvPr>
            <p:ph type="body" idx="1"/>
          </p:nvPr>
        </p:nvSpPr>
        <p:spPr>
          <a:xfrm>
            <a:off x="1267500" y="311675"/>
            <a:ext cx="66090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uk" sz="2083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Фінальний результат: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g22c7558df01_0_229"/>
          <p:cNvPicPr preferRelativeResize="0"/>
          <p:nvPr/>
        </p:nvPicPr>
        <p:blipFill rotWithShape="1">
          <a:blip r:embed="rId3">
            <a:alphaModFix/>
          </a:blip>
          <a:srcRect l="621" r="720"/>
          <a:stretch/>
        </p:blipFill>
        <p:spPr>
          <a:xfrm>
            <a:off x="522100" y="1014075"/>
            <a:ext cx="7919876" cy="363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162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Закріпимо вивчений матеріал:</a:t>
            </a:r>
            <a:endParaRPr sz="162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7"/>
          <p:cNvSpPr txBox="1">
            <a:spLocks noGrp="1"/>
          </p:cNvSpPr>
          <p:nvPr>
            <p:ph type="body" idx="1"/>
          </p:nvPr>
        </p:nvSpPr>
        <p:spPr>
          <a:xfrm>
            <a:off x="443600" y="1184225"/>
            <a:ext cx="4084800" cy="3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Що нового для себе дізналися? Що навчилися робити? 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Що ми називаємо списками? Які види списків існують?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створити списки в </a:t>
            </a:r>
            <a:r>
              <a:rPr lang="en-US" sz="1200" dirty="0">
                <a:solidFill>
                  <a:schemeClr val="dk1"/>
                </a:solidFill>
              </a:rPr>
              <a:t>HTML?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Який атрибут дає змогу задати маркери спискам? Які стилі маркерів ви запам'ятали?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додати зображення на сторінку?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Які атрибути пов'язані з роботою із зображенням ми сьогодні вивчили?</a:t>
            </a:r>
          </a:p>
          <a:p>
            <a: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uk-UA" sz="1200" dirty="0">
                <a:solidFill>
                  <a:schemeClr val="dk1"/>
                </a:solidFill>
              </a:rPr>
              <a:t>Як перетворити картинку на посилання?</a:t>
            </a: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61" name="Google Shape;26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7475" y="897125"/>
            <a:ext cx="3232775" cy="32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22c58f8336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2c58f83361_0_0"/>
          <p:cNvSpPr txBox="1">
            <a:spLocks noGrp="1"/>
          </p:cNvSpPr>
          <p:nvPr>
            <p:ph type="title"/>
          </p:nvPr>
        </p:nvSpPr>
        <p:spPr>
          <a:xfrm>
            <a:off x="514900" y="462777"/>
            <a:ext cx="553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00" b="1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Домашнє завдання</a:t>
            </a:r>
            <a:endParaRPr sz="2000" b="1"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22c58f83361_0_0"/>
          <p:cNvSpPr txBox="1">
            <a:spLocks noGrp="1"/>
          </p:cNvSpPr>
          <p:nvPr>
            <p:ph type="body" idx="1"/>
          </p:nvPr>
        </p:nvSpPr>
        <p:spPr>
          <a:xfrm>
            <a:off x="311676" y="1125906"/>
            <a:ext cx="3581320" cy="3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04800">
              <a:buClr>
                <a:schemeClr val="dk1"/>
              </a:buClr>
              <a:buSzPts val="1200"/>
              <a:buChar char="➔"/>
            </a:pPr>
            <a:r>
              <a:rPr lang="en-UA" sz="1400" dirty="0"/>
              <a:t>Створіть сторінку своєї галактики. </a:t>
            </a:r>
          </a:p>
          <a:p>
            <a:pPr lvl="0" indent="-304800">
              <a:buClr>
                <a:schemeClr val="dk1"/>
              </a:buClr>
              <a:buSzPts val="1200"/>
              <a:buChar char="➔"/>
            </a:pPr>
            <a:r>
              <a:rPr lang="en-UA" sz="1400" dirty="0"/>
              <a:t>Використовуйте марковані та нумеровані списки, щоб розписати планети та їхні властивості. </a:t>
            </a:r>
          </a:p>
          <a:p>
            <a:pPr lvl="0" indent="-304800">
              <a:buClr>
                <a:schemeClr val="dk1"/>
              </a:buClr>
              <a:buSzPts val="1200"/>
              <a:buChar char="➔"/>
            </a:pPr>
            <a:r>
              <a:rPr lang="en-UA" sz="1400" dirty="0"/>
              <a:t>Зробіть сторінку акуратною та читабельною за допомогою стилізації.</a:t>
            </a:r>
            <a:endParaRPr lang="uk-UA" sz="1050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80C08-9727-4402-84E6-BD1CB09754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8" r="535"/>
          <a:stretch>
            <a:fillRect/>
          </a:stretch>
        </p:blipFill>
        <p:spPr>
          <a:xfrm>
            <a:off x="4018866" y="940012"/>
            <a:ext cx="4999264" cy="32634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8185</TotalTime>
  <Words>780</Words>
  <Application>Microsoft Macintosh PowerPoint</Application>
  <PresentationFormat>On-screen Show (16:9)</PresentationFormat>
  <Paragraphs>73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Roboto</vt:lpstr>
      <vt:lpstr>Arial</vt:lpstr>
      <vt:lpstr>Roboto Black</vt:lpstr>
      <vt:lpstr>Simple Light</vt:lpstr>
      <vt:lpstr>PowerPoint Presentation</vt:lpstr>
      <vt:lpstr>Що використовували веброзробники для структурування інформації на сайті?</vt:lpstr>
      <vt:lpstr>Що використовували веброзробники для структурування інформації на сайті?</vt:lpstr>
      <vt:lpstr>Що використовували веброзробники для структурування інформації на сайті?</vt:lpstr>
      <vt:lpstr>Що використано в наступних прикладах  для поліпшення візуального сприйняття сторінки?</vt:lpstr>
      <vt:lpstr>Що використано в наступних прикладах  для поліпшення візуального сприйняття сторінки?</vt:lpstr>
      <vt:lpstr>Урок 3. Списки. Зображення</vt:lpstr>
      <vt:lpstr>Наші завдання на заняття:</vt:lpstr>
      <vt:lpstr>Приклади списків</vt:lpstr>
      <vt:lpstr>Що таке список?</vt:lpstr>
      <vt:lpstr>Види списків</vt:lpstr>
      <vt:lpstr>Створимо маркований список</vt:lpstr>
      <vt:lpstr>PowerPoint Presentation</vt:lpstr>
      <vt:lpstr>Створимо нумерований список</vt:lpstr>
      <vt:lpstr>PowerPoint Presentation</vt:lpstr>
      <vt:lpstr>Меню навігації</vt:lpstr>
      <vt:lpstr>Меню навігації</vt:lpstr>
      <vt:lpstr>Створюємо меню навігації</vt:lpstr>
      <vt:lpstr>Створюємо меню навігації</vt:lpstr>
      <vt:lpstr>Hover-ефект</vt:lpstr>
      <vt:lpstr>Створюємо hover-ефект</vt:lpstr>
      <vt:lpstr>Робота із зображеннями</vt:lpstr>
      <vt:lpstr>Робота із зображеннями</vt:lpstr>
      <vt:lpstr>PowerPoint Presentation</vt:lpstr>
      <vt:lpstr>Закріпимо вивчений матеріал:</vt:lpstr>
      <vt:lpstr>Домашнє завдання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Анна</dc:creator>
  <cp:lastModifiedBy>Дмитро Штефан</cp:lastModifiedBy>
  <cp:revision>8</cp:revision>
  <dcterms:modified xsi:type="dcterms:W3CDTF">2026-09-12T11:21:50Z</dcterms:modified>
</cp:coreProperties>
</file>